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1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4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f05b2af3484d2d" /><Relationship Type="http://schemas.openxmlformats.org/officeDocument/2006/relationships/extended-properties" Target="/docProps/app.xml" Id="Ra921aa3392b94a31" /><Relationship Type="http://schemas.openxmlformats.org/officeDocument/2006/relationships/officeDocument" Target="/ppt/presentation.xml" Id="R8064ae701d2a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248926a0147d8"/>
  </p:sldMasterIdLst>
  <p:notesMasterIdLst>
    <p:notesMasterId xmlns:r="http://schemas.openxmlformats.org/officeDocument/2006/relationships" r:id="Rc0247f26d56b4c24"/>
  </p:notesMasterIdLst>
  <p:sldIdLst>
    <p:sldId xmlns:r="http://schemas.openxmlformats.org/officeDocument/2006/relationships" id="256" r:id="Rfba62dfb12d44eb0"/>
    <p:sldId xmlns:r="http://schemas.openxmlformats.org/officeDocument/2006/relationships" id="257" r:id="R8c45128bf1b7458b"/>
    <p:sldId xmlns:r="http://schemas.openxmlformats.org/officeDocument/2006/relationships" id="258" r:id="Rfe00f56eb8a241bb"/>
    <p:sldId xmlns:r="http://schemas.openxmlformats.org/officeDocument/2006/relationships" id="259" r:id="R1a1104eb008b4a6c"/>
    <p:sldId xmlns:r="http://schemas.openxmlformats.org/officeDocument/2006/relationships" id="260" r:id="R490544fb03bd40a3"/>
    <p:sldId xmlns:r="http://schemas.openxmlformats.org/officeDocument/2006/relationships" id="261" r:id="Rc0e1f539c4a04fd7"/>
    <p:sldId xmlns:r="http://schemas.openxmlformats.org/officeDocument/2006/relationships" id="262" r:id="Rc541853c7be742c8"/>
    <p:sldId xmlns:r="http://schemas.openxmlformats.org/officeDocument/2006/relationships" id="263" r:id="Rb17840646bc948aa"/>
    <p:sldId xmlns:r="http://schemas.openxmlformats.org/officeDocument/2006/relationships" id="264" r:id="Re686b2f68a434d32"/>
    <p:sldId xmlns:r="http://schemas.openxmlformats.org/officeDocument/2006/relationships" id="265" r:id="Rbfc21ca6aa624400"/>
    <p:sldId xmlns:r="http://schemas.openxmlformats.org/officeDocument/2006/relationships" id="266" r:id="Rc38e7b3019db4578"/>
    <p:sldId xmlns:r="http://schemas.openxmlformats.org/officeDocument/2006/relationships" id="267" r:id="R9a2b7d670af54309"/>
    <p:sldId xmlns:r="http://schemas.openxmlformats.org/officeDocument/2006/relationships" id="268" r:id="R5fb5cdeaf5aa4738"/>
    <p:sldId xmlns:r="http://schemas.openxmlformats.org/officeDocument/2006/relationships" id="269" r:id="Re40ed9fe852240ba"/>
    <p:sldId xmlns:r="http://schemas.openxmlformats.org/officeDocument/2006/relationships" id="270" r:id="R22f5605eafb849f7"/>
    <p:sldId xmlns:r="http://schemas.openxmlformats.org/officeDocument/2006/relationships" id="271" r:id="Rf65466835257427f"/>
    <p:sldId xmlns:r="http://schemas.openxmlformats.org/officeDocument/2006/relationships" id="272" r:id="Re2bb15b285504f1e"/>
    <p:sldId xmlns:r="http://schemas.openxmlformats.org/officeDocument/2006/relationships" id="273" r:id="Rc88bfa04f2824ed7"/>
    <p:sldId xmlns:r="http://schemas.openxmlformats.org/officeDocument/2006/relationships" id="274" r:id="Rcec120b5a03a4dd8"/>
    <p:sldId xmlns:r="http://schemas.openxmlformats.org/officeDocument/2006/relationships" id="275" r:id="R8e9b36ffcdb04999"/>
    <p:sldId xmlns:r="http://schemas.openxmlformats.org/officeDocument/2006/relationships" id="276" r:id="Rb1ec76394c8e43fb"/>
    <p:sldId xmlns:r="http://schemas.openxmlformats.org/officeDocument/2006/relationships" id="277" r:id="Rb068af3c085f40b3"/>
    <p:sldId xmlns:r="http://schemas.openxmlformats.org/officeDocument/2006/relationships" id="278" r:id="Re7d4f32ba8f444b6"/>
    <p:sldId xmlns:r="http://schemas.openxmlformats.org/officeDocument/2006/relationships" id="279" r:id="Rd4c94b92c62549b9"/>
    <p:sldId xmlns:r="http://schemas.openxmlformats.org/officeDocument/2006/relationships" id="280" r:id="Rff6d93bdae5f43e0"/>
    <p:sldId xmlns:r="http://schemas.openxmlformats.org/officeDocument/2006/relationships" id="281" r:id="R54125e05fc4b4d9d"/>
    <p:sldId xmlns:r="http://schemas.openxmlformats.org/officeDocument/2006/relationships" id="282" r:id="R7f6604a82f7543f4"/>
    <p:sldId xmlns:r="http://schemas.openxmlformats.org/officeDocument/2006/relationships" id="283" r:id="R2d6cc87f65384ef6"/>
    <p:sldId xmlns:r="http://schemas.openxmlformats.org/officeDocument/2006/relationships" id="284" r:id="Rad59e4f0e9dd4af0"/>
    <p:sldId xmlns:r="http://schemas.openxmlformats.org/officeDocument/2006/relationships" id="285" r:id="Rc6ef6523672e42a5"/>
    <p:sldId xmlns:r="http://schemas.openxmlformats.org/officeDocument/2006/relationships" id="286" r:id="R728454f1731d4077"/>
    <p:sldId xmlns:r="http://schemas.openxmlformats.org/officeDocument/2006/relationships" id="287" r:id="R57f4e786088645e1"/>
    <p:sldId xmlns:r="http://schemas.openxmlformats.org/officeDocument/2006/relationships" id="288" r:id="R07511240a4954839"/>
    <p:sldId xmlns:r="http://schemas.openxmlformats.org/officeDocument/2006/relationships" id="289" r:id="Ra9116c3bd68242b3"/>
    <p:sldId xmlns:r="http://schemas.openxmlformats.org/officeDocument/2006/relationships" id="290" r:id="Rc73b5b0f6e684190"/>
    <p:sldId xmlns:r="http://schemas.openxmlformats.org/officeDocument/2006/relationships" id="291" r:id="R05361b1e2ff94511"/>
    <p:sldId xmlns:r="http://schemas.openxmlformats.org/officeDocument/2006/relationships" id="292" r:id="Rc00d183bced147c1"/>
    <p:sldId xmlns:r="http://schemas.openxmlformats.org/officeDocument/2006/relationships" id="293" r:id="R7f0a7b493a924703"/>
    <p:sldId xmlns:r="http://schemas.openxmlformats.org/officeDocument/2006/relationships" id="294" r:id="Rc81d1982c67142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c439106ce84cb4" /><Relationship Type="http://schemas.openxmlformats.org/officeDocument/2006/relationships/slideMaster" Target="/ppt/slideMasters/slideMaster1.xml" Id="Raea248926a0147d8" /><Relationship Type="http://schemas.openxmlformats.org/officeDocument/2006/relationships/notesMaster" Target="/ppt/notesMasters/notesMaster1.xml" Id="Rc0247f26d56b4c24" /><Relationship Type="http://schemas.openxmlformats.org/officeDocument/2006/relationships/presProps" Target="/ppt/presProps.xml" Id="R1161fbf992974962" /><Relationship Type="http://schemas.openxmlformats.org/officeDocument/2006/relationships/tableStyles" Target="/ppt/tableStyles.xml" Id="Rc4a88541f3d84d11" /><Relationship Type="http://schemas.openxmlformats.org/officeDocument/2006/relationships/slide" Target="/ppt/slides/slide1.xml" Id="Rfba62dfb12d44eb0" /><Relationship Type="http://schemas.openxmlformats.org/officeDocument/2006/relationships/slide" Target="/ppt/slides/slide2.xml" Id="R8c45128bf1b7458b" /><Relationship Type="http://schemas.openxmlformats.org/officeDocument/2006/relationships/slide" Target="/ppt/slides/slide3.xml" Id="Rfe00f56eb8a241bb" /><Relationship Type="http://schemas.openxmlformats.org/officeDocument/2006/relationships/slide" Target="/ppt/slides/slide4.xml" Id="R1a1104eb008b4a6c" /><Relationship Type="http://schemas.openxmlformats.org/officeDocument/2006/relationships/slide" Target="/ppt/slides/slide5.xml" Id="R490544fb03bd40a3" /><Relationship Type="http://schemas.openxmlformats.org/officeDocument/2006/relationships/slide" Target="/ppt/slides/slide6.xml" Id="Rc0e1f539c4a04fd7" /><Relationship Type="http://schemas.openxmlformats.org/officeDocument/2006/relationships/slide" Target="/ppt/slides/slide7.xml" Id="Rc541853c7be742c8" /><Relationship Type="http://schemas.openxmlformats.org/officeDocument/2006/relationships/slide" Target="/ppt/slides/slide8.xml" Id="Rb17840646bc948aa" /><Relationship Type="http://schemas.openxmlformats.org/officeDocument/2006/relationships/slide" Target="/ppt/slides/slide9.xml" Id="Re686b2f68a434d32" /><Relationship Type="http://schemas.openxmlformats.org/officeDocument/2006/relationships/slide" Target="/ppt/slides/slide10.xml" Id="Rbfc21ca6aa624400" /><Relationship Type="http://schemas.openxmlformats.org/officeDocument/2006/relationships/slide" Target="/ppt/slides/slide11.xml" Id="Rc38e7b3019db4578" /><Relationship Type="http://schemas.openxmlformats.org/officeDocument/2006/relationships/slide" Target="/ppt/slides/slide12.xml" Id="R9a2b7d670af54309" /><Relationship Type="http://schemas.openxmlformats.org/officeDocument/2006/relationships/slide" Target="/ppt/slides/slide13.xml" Id="R5fb5cdeaf5aa4738" /><Relationship Type="http://schemas.openxmlformats.org/officeDocument/2006/relationships/slide" Target="/ppt/slides/slide14.xml" Id="Re40ed9fe852240ba" /><Relationship Type="http://schemas.openxmlformats.org/officeDocument/2006/relationships/slide" Target="/ppt/slides/slide15.xml" Id="R22f5605eafb849f7" /><Relationship Type="http://schemas.openxmlformats.org/officeDocument/2006/relationships/slide" Target="/ppt/slides/slide16.xml" Id="Rf65466835257427f" /><Relationship Type="http://schemas.openxmlformats.org/officeDocument/2006/relationships/slide" Target="/ppt/slides/slide17.xml" Id="Re2bb15b285504f1e" /><Relationship Type="http://schemas.openxmlformats.org/officeDocument/2006/relationships/slide" Target="/ppt/slides/slide18.xml" Id="Rc88bfa04f2824ed7" /><Relationship Type="http://schemas.openxmlformats.org/officeDocument/2006/relationships/slide" Target="/ppt/slides/slide19.xml" Id="Rcec120b5a03a4dd8" /><Relationship Type="http://schemas.openxmlformats.org/officeDocument/2006/relationships/slide" Target="/ppt/slides/slide20.xml" Id="R8e9b36ffcdb04999" /><Relationship Type="http://schemas.openxmlformats.org/officeDocument/2006/relationships/slide" Target="/ppt/slides/slide21.xml" Id="Rb1ec76394c8e43fb" /><Relationship Type="http://schemas.openxmlformats.org/officeDocument/2006/relationships/slide" Target="/ppt/slides/slide22.xml" Id="Rb068af3c085f40b3" /><Relationship Type="http://schemas.openxmlformats.org/officeDocument/2006/relationships/slide" Target="/ppt/slides/slide23.xml" Id="Re7d4f32ba8f444b6" /><Relationship Type="http://schemas.openxmlformats.org/officeDocument/2006/relationships/slide" Target="/ppt/slides/slide24.xml" Id="Rd4c94b92c62549b9" /><Relationship Type="http://schemas.openxmlformats.org/officeDocument/2006/relationships/slide" Target="/ppt/slides/slide25.xml" Id="Rff6d93bdae5f43e0" /><Relationship Type="http://schemas.openxmlformats.org/officeDocument/2006/relationships/slide" Target="/ppt/slides/slide26.xml" Id="R54125e05fc4b4d9d" /><Relationship Type="http://schemas.openxmlformats.org/officeDocument/2006/relationships/slide" Target="/ppt/slides/slide27.xml" Id="R7f6604a82f7543f4" /><Relationship Type="http://schemas.openxmlformats.org/officeDocument/2006/relationships/slide" Target="/ppt/slides/slide28.xml" Id="R2d6cc87f65384ef6" /><Relationship Type="http://schemas.openxmlformats.org/officeDocument/2006/relationships/slide" Target="/ppt/slides/slide29.xml" Id="Rad59e4f0e9dd4af0" /><Relationship Type="http://schemas.openxmlformats.org/officeDocument/2006/relationships/slide" Target="/ppt/slides/slide30.xml" Id="Rc6ef6523672e42a5" /><Relationship Type="http://schemas.openxmlformats.org/officeDocument/2006/relationships/slide" Target="/ppt/slides/slide31.xml" Id="R728454f1731d4077" /><Relationship Type="http://schemas.openxmlformats.org/officeDocument/2006/relationships/slide" Target="/ppt/slides/slide32.xml" Id="R57f4e786088645e1" /><Relationship Type="http://schemas.openxmlformats.org/officeDocument/2006/relationships/slide" Target="/ppt/slides/slide33.xml" Id="R07511240a4954839" /><Relationship Type="http://schemas.openxmlformats.org/officeDocument/2006/relationships/slide" Target="/ppt/slides/slide34.xml" Id="Ra9116c3bd68242b3" /><Relationship Type="http://schemas.openxmlformats.org/officeDocument/2006/relationships/slide" Target="/ppt/slides/slide35.xml" Id="Rc73b5b0f6e684190" /><Relationship Type="http://schemas.openxmlformats.org/officeDocument/2006/relationships/slide" Target="/ppt/slides/slide36.xml" Id="R05361b1e2ff94511" /><Relationship Type="http://schemas.openxmlformats.org/officeDocument/2006/relationships/slide" Target="/ppt/slides/slide37.xml" Id="Rc00d183bced147c1" /><Relationship Type="http://schemas.openxmlformats.org/officeDocument/2006/relationships/slide" Target="/ppt/slides/slide38.xml" Id="R7f0a7b493a924703" /><Relationship Type="http://schemas.openxmlformats.org/officeDocument/2006/relationships/slide" Target="/ppt/slides/slide39.xml" Id="Rc81d1982c67142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951c63eeb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fa7d76a1054169" /><Relationship Type="http://schemas.openxmlformats.org/officeDocument/2006/relationships/notesMaster" Target="/ppt/notesMasters/notesMaster1.xml" Id="Rcabb10af33f042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159dd54c14d96" /><Relationship Type="http://schemas.openxmlformats.org/officeDocument/2006/relationships/notesMaster" Target="/ppt/notesMasters/notesMaster1.xml" Id="Reab3db9f3b974c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ed0642f784807" /><Relationship Type="http://schemas.openxmlformats.org/officeDocument/2006/relationships/notesMaster" Target="/ppt/notesMasters/notesMaster1.xml" Id="R309591ab37e7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fe4420a1604661" /><Relationship Type="http://schemas.openxmlformats.org/officeDocument/2006/relationships/notesMaster" Target="/ppt/notesMasters/notesMaster1.xml" Id="R011d4bc5acd441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92f35aa0404539" /><Relationship Type="http://schemas.openxmlformats.org/officeDocument/2006/relationships/notesMaster" Target="/ppt/notesMasters/notesMaster1.xml" Id="R5383a9dd30624b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b1f09b5f9f4593" /><Relationship Type="http://schemas.openxmlformats.org/officeDocument/2006/relationships/notesMaster" Target="/ppt/notesMasters/notesMaster1.xml" Id="Rd83f3230b47542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f44a14c8764771" /><Relationship Type="http://schemas.openxmlformats.org/officeDocument/2006/relationships/notesMaster" Target="/ppt/notesMasters/notesMaster1.xml" Id="Rfb4200482e0944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53055329284a2e" /><Relationship Type="http://schemas.openxmlformats.org/officeDocument/2006/relationships/notesMaster" Target="/ppt/notesMasters/notesMaster1.xml" Id="R121c676ae25c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3a327b82e24ea8" /><Relationship Type="http://schemas.openxmlformats.org/officeDocument/2006/relationships/notesMaster" Target="/ppt/notesMasters/notesMaster1.xml" Id="Rbd8591ce578c43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b9b99f122746e3" /><Relationship Type="http://schemas.openxmlformats.org/officeDocument/2006/relationships/notesMaster" Target="/ppt/notesMasters/notesMaster1.xml" Id="Ra1a9eb6057164c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9930f2cdb24909" /><Relationship Type="http://schemas.openxmlformats.org/officeDocument/2006/relationships/notesMaster" Target="/ppt/notesMasters/notesMaster1.xml" Id="R474e16e72a6344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38e9a649964aa9" /><Relationship Type="http://schemas.openxmlformats.org/officeDocument/2006/relationships/notesMaster" Target="/ppt/notesMasters/notesMaster1.xml" Id="R57b95fc4680f48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66cecd9dd64d6e" /><Relationship Type="http://schemas.openxmlformats.org/officeDocument/2006/relationships/notesMaster" Target="/ppt/notesMasters/notesMaster1.xml" Id="R67119a4743ce45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eeea60fe784dd7" /><Relationship Type="http://schemas.openxmlformats.org/officeDocument/2006/relationships/notesMaster" Target="/ppt/notesMasters/notesMaster1.xml" Id="R75f489c58c3b43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b04995dc60b4d2c" /><Relationship Type="http://schemas.openxmlformats.org/officeDocument/2006/relationships/notesMaster" Target="/ppt/notesMasters/notesMaster1.xml" Id="R279929bb17a042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3c435aaf7f42d7" /><Relationship Type="http://schemas.openxmlformats.org/officeDocument/2006/relationships/notesMaster" Target="/ppt/notesMasters/notesMaster1.xml" Id="Rb60b15a40c2245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ddf3110f0043a9" /><Relationship Type="http://schemas.openxmlformats.org/officeDocument/2006/relationships/notesMaster" Target="/ppt/notesMasters/notesMaster1.xml" Id="R9b4b051816104b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36eedcb7e24bc4" /><Relationship Type="http://schemas.openxmlformats.org/officeDocument/2006/relationships/notesMaster" Target="/ppt/notesMasters/notesMaster1.xml" Id="Rdeb3f582959541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55b8cda556a4114" /><Relationship Type="http://schemas.openxmlformats.org/officeDocument/2006/relationships/notesMaster" Target="/ppt/notesMasters/notesMaster1.xml" Id="Rbdd846a05f3946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b4d121887a4693" /><Relationship Type="http://schemas.openxmlformats.org/officeDocument/2006/relationships/notesMaster" Target="/ppt/notesMasters/notesMaster1.xml" Id="R1f34170bf3c947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e6a97e20d74c8b" /><Relationship Type="http://schemas.openxmlformats.org/officeDocument/2006/relationships/notesMaster" Target="/ppt/notesMasters/notesMaster1.xml" Id="R1aa6484106ca45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fa803f69be4754" /><Relationship Type="http://schemas.openxmlformats.org/officeDocument/2006/relationships/notesMaster" Target="/ppt/notesMasters/notesMaster1.xml" Id="Rd187fb4b0f2b43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8c7d67776b64d11" /><Relationship Type="http://schemas.openxmlformats.org/officeDocument/2006/relationships/notesMaster" Target="/ppt/notesMasters/notesMaster1.xml" Id="R8575ac3f1a464e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0f9e5cb132f4cd2" /><Relationship Type="http://schemas.openxmlformats.org/officeDocument/2006/relationships/notesMaster" Target="/ppt/notesMasters/notesMaster1.xml" Id="Rf868efbcf57847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d904d32107b487a" /><Relationship Type="http://schemas.openxmlformats.org/officeDocument/2006/relationships/notesMaster" Target="/ppt/notesMasters/notesMaster1.xml" Id="R4e6cd60e1534441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c922f3499ac472b" /><Relationship Type="http://schemas.openxmlformats.org/officeDocument/2006/relationships/notesMaster" Target="/ppt/notesMasters/notesMaster1.xml" Id="Rcf1163ea7b6748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a98ec48087342ad" /><Relationship Type="http://schemas.openxmlformats.org/officeDocument/2006/relationships/notesMaster" Target="/ppt/notesMasters/notesMaster1.xml" Id="R26fdb79fec0242b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07f5a7f930847e3" /><Relationship Type="http://schemas.openxmlformats.org/officeDocument/2006/relationships/notesMaster" Target="/ppt/notesMasters/notesMaster1.xml" Id="R3d7acb5920bf45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72e66708b694ade" /><Relationship Type="http://schemas.openxmlformats.org/officeDocument/2006/relationships/notesMaster" Target="/ppt/notesMasters/notesMaster1.xml" Id="R486d87949c354bd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a92ded1f9e7477b" /><Relationship Type="http://schemas.openxmlformats.org/officeDocument/2006/relationships/notesMaster" Target="/ppt/notesMasters/notesMaster1.xml" Id="R24166a3307d949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f7d596b88184d3c" /><Relationship Type="http://schemas.openxmlformats.org/officeDocument/2006/relationships/notesMaster" Target="/ppt/notesMasters/notesMaster1.xml" Id="R6ab5808f7011460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c044c7cc01f4b7d" /><Relationship Type="http://schemas.openxmlformats.org/officeDocument/2006/relationships/notesMaster" Target="/ppt/notesMasters/notesMaster1.xml" Id="Ra476b526c5de4c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2193cb6c643c4730" /><Relationship Type="http://schemas.openxmlformats.org/officeDocument/2006/relationships/notesMaster" Target="/ppt/notesMasters/notesMaster1.xml" Id="R78d84f1ff8144cd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c48a16ca304ad0" /><Relationship Type="http://schemas.openxmlformats.org/officeDocument/2006/relationships/notesMaster" Target="/ppt/notesMasters/notesMaster1.xml" Id="Rbb200713381c401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5e6f373eee04c90" /><Relationship Type="http://schemas.openxmlformats.org/officeDocument/2006/relationships/notesMaster" Target="/ppt/notesMasters/notesMaster1.xml" Id="Refa27f17161f4e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5aeec78e3d34906" /><Relationship Type="http://schemas.openxmlformats.org/officeDocument/2006/relationships/notesMaster" Target="/ppt/notesMasters/notesMaster1.xml" Id="R49ac7d40ee08411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e3de53880594cb6" /><Relationship Type="http://schemas.openxmlformats.org/officeDocument/2006/relationships/notesMaster" Target="/ppt/notesMasters/notesMaster1.xml" Id="R15f00bbd250141f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255f9c090494f1b" /><Relationship Type="http://schemas.openxmlformats.org/officeDocument/2006/relationships/notesMaster" Target="/ppt/notesMasters/notesMaster1.xml" Id="R2435ca2a2d58411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64591983364b10" /><Relationship Type="http://schemas.openxmlformats.org/officeDocument/2006/relationships/notesMaster" Target="/ppt/notesMasters/notesMaster1.xml" Id="R4e7a77b84db7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Frame the presentation around two questions: what changed in the code, and how those changes entered the new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Git: branch pytorch_transform, HEAD fecacfd4904bd501aee1ed2e1aca59ec69c2ecfa</a:t>
            </a:r>
          </a:p>
          <a:p xmlns:a="http://schemas.openxmlformats.org/drawingml/2006/main">
            <a:r>
              <a:t>- Repository: https://github.com/Louis-26/FELsim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Begin with the integrated outcome—numerical migration, architecture integration, and a reusable research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backend/beamline.py, backend/ebeam.py, backend/beamOptimizer.py</a:t>
            </a:r>
          </a:p>
          <a:p xmlns:a="http://schemas.openxmlformats.org/drawingml/2006/main">
            <a:r>
              <a:t>- Local: backend/felsimAdapter.py, backend/beamEvolution.py, backend/evolutionPlotter.py</a:t>
            </a:r>
          </a:p>
          <a:p xmlns:a="http://schemas.openxmlformats.org/drawingml/2006/main">
            <a:r>
              <a:t>- Local: experiment/step_1 through experiment/step_4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Explain both baselines so upstream synchronization is not misrepresented as wholly independent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 73d1785: first introduction of backend_orig</a:t>
            </a:r>
          </a:p>
          <a:p xmlns:a="http://schemas.openxmlformats.org/drawingml/2006/main">
            <a:r>
              <a:t>- Git commit 2c71c2a: architecture modules added to both backend and backend_orig</a:t>
            </a:r>
          </a:p>
          <a:p xmlns:a="http://schemas.openxmlformats.org/drawingml/2006/main">
            <a:r>
              <a:t>- Local: backend, backend_orig, experiment, work_progress,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Use the monthly sequence to show the progression from numerical migration to second-order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work_progress/work_progress_1.md through work_progress/work_progress_9.md</a:t>
            </a:r>
          </a:p>
          <a:p xmlns:a="http://schemas.openxmlformats.org/drawingml/2006/main">
            <a:r>
              <a:t>- Git log: 2026-04-01 through 2026-08-10 on branch pytorch_transform</a:t>
            </a:r>
          </a:p>
          <a:p xmlns:a="http://schemas.openxmlformats.org/drawingml/2006/main">
            <a:r>
              <a:t>- Git commit d3d7cbd: last backend source-code change on 2026-06-26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phase prioritized numerical equivalence and stable interfaces before performance and architecture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commits 5f76cb0, 3695a99, 73d1785, e38e7bc, 96ae968</a:t>
            </a:r>
          </a:p>
          <a:p xmlns:a="http://schemas.openxmlformats.org/drawingml/2006/main">
            <a:r>
              <a:t>- Local: work_progress/work_progress_1.md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Present the phase as verifiable engineering tasks tied directly to commits and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show 5f76cb0, 3695a99, 73d1785, e38e7bc, 96ae968</a:t>
            </a:r>
          </a:p>
          <a:p xmlns:a="http://schemas.openxmlformats.org/drawingml/2006/main">
            <a:r>
              <a:t>- Local: work_progress/work_progress_1.md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Emphasize that the migration spans propagation, statistics, physics utilities, and optimization interfaces.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diff: backend_orig versus backend for Python source files</a:t>
            </a:r>
          </a:p>
          <a:p xmlns:a="http://schemas.openxmlformats.org/drawingml/2006/main">
            <a:r>
              <a:t>- Local: backend/beamline.py, backend/ebeam.py, backend/beamUtility.py</a:t>
            </a:r>
          </a:p>
          <a:p xmlns:a="http://schemas.openxmlformats.org/drawingml/2006/main">
            <a:r>
              <a:t>- Local: backend/radiation.py, backend/schematic.py, backend/beamOptimizer.py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Use this example to show that the numerical implementation changed while upper-layer calling conventions remained 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backend/beamline.py:173 useMatrice()</a:t>
            </a:r>
          </a:p>
          <a:p xmlns:a="http://schemas.openxmlformats.org/drawingml/2006/main">
            <a:r>
              <a:t>- Local: backend/beamline.py:204 batch torch.matmul</a:t>
            </a:r>
          </a:p>
          <a:p xmlns:a="http://schemas.openxmlformats.org/drawingml/2006/main">
            <a:r>
              <a:t>- Local: backend/beamline.py:757 element-position accumulation</a:t>
            </a:r>
          </a:p>
          <a:p xmlns:a="http://schemas.openxmlformats.org/drawingml/2006/main">
            <a:r>
              <a:t>- Local: backend/beamline.py:875 fringe-field reconstruction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statistics layer matters because each optimization forward pass repeatedly evaluates these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backend/ebeam.py:94 cal_twiss()</a:t>
            </a:r>
          </a:p>
          <a:p xmlns:a="http://schemas.openxmlformats.org/drawingml/2006/main">
            <a:r>
              <a:t>- Local: backend/ebeam.py:752 gen_6d_from_twiss()</a:t>
            </a:r>
          </a:p>
          <a:p xmlns:a="http://schemas.openxmlformats.org/drawingml/2006/main">
            <a:r>
              <a:t>- Local: backend/beamUtility.py, backend/radiation.py, backend/schematic.py</a:t>
            </a:r>
          </a:p>
          <a:p xmlns:a="http://schemas.openxmlformats.org/drawingml/2006/main">
            <a:r>
              <a:t>- Git commit 7d2bb28: float64 integration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Distinguish completed equivalence checks from the automated regression infrastructure still to be built.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modify_test_cases/test_ebeam.ipynb</a:t>
            </a:r>
          </a:p>
          <a:p xmlns:a="http://schemas.openxmlformats.org/drawingml/2006/main">
            <a:r>
              <a:t>- Local: modify_test_cases/test_beamline.ipynb</a:t>
            </a:r>
          </a:p>
          <a:p xmlns:a="http://schemas.openxmlformats.org/drawingml/2006/main">
            <a:r>
              <a:t>- Local: modify_test_cases/test_schematic.ipynb</a:t>
            </a:r>
          </a:p>
          <a:p xmlns:a="http://schemas.openxmlformats.org/drawingml/2006/main">
            <a:r>
              <a:t>- Local: modify_test_cases/test_beamUtility.ipynb</a:t>
            </a:r>
          </a:p>
          <a:p xmlns:a="http://schemas.openxmlformats.org/drawingml/2006/main">
            <a:r>
              <a:t>- Local: backend/beamline_optimization_pytorch_res.pdf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Position May as the bridge between low-level implementation and the reusable research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commits 2c71c2a, 3812df0, f829316</a:t>
            </a:r>
          </a:p>
          <a:p xmlns:a="http://schemas.openxmlformats.org/drawingml/2006/main">
            <a:r>
              <a:t>- Local: work_progress/work_progress_2.md through work_progress/work_progress_4.md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State attribution explicitly: upstream supplied the foundation; this work synchronized, adapted, validated, and extended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 2c71c2a: 2026-05-18 architecture integration</a:t>
            </a:r>
          </a:p>
          <a:p xmlns:a="http://schemas.openxmlformats.org/drawingml/2006/main">
            <a:r>
              <a:t>- Upstream history recorded in local Git: komochristian/FELsim nginx branch</a:t>
            </a:r>
          </a:p>
          <a:p xmlns:a="http://schemas.openxmlformats.org/drawingml/2006/main">
            <a:r>
              <a:t>- Local: backend/simulatorBase.py, backend/felsimAdapter.py, backend/cosyAdapter.py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Walk through the data flow from left to right, then emphasize the value of the Adapter layer and unified result container.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backend/latticeLoader.py, backend/beamlineBuilder.py, backend/simulatorBase.py</a:t>
            </a:r>
          </a:p>
          <a:p xmlns:a="http://schemas.openxmlformats.org/drawingml/2006/main">
            <a:r>
              <a:t>- Local: backend/felsimAdapter.py, backend/cosyAdapter.py</a:t>
            </a:r>
          </a:p>
          <a:p xmlns:a="http://schemas.openxmlformats.org/drawingml/2006/main">
            <a:r>
              <a:t>- Local: backend/beamEvolution.py, backend/evolutionPlotter.py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slide directly explains how the improved numerical code integrates into the new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backend/beamPropagator.py</a:t>
            </a:r>
          </a:p>
          <a:p xmlns:a="http://schemas.openxmlformats.org/drawingml/2006/main">
            <a:r>
              <a:t>- Local: backend/beamline.py:173 useMatrice()</a:t>
            </a:r>
          </a:p>
          <a:p xmlns:a="http://schemas.openxmlformats.org/drawingml/2006/main">
            <a:r>
              <a:t>- Local: backend/ebeam.py:94 cal_twiss()</a:t>
            </a:r>
          </a:p>
          <a:p xmlns:a="http://schemas.openxmlformats.org/drawingml/2006/main">
            <a:r>
              <a:t>- Local: backend/felsimAdapter.py:253 collect_evolution()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evaluate() method is the key architectural contribution enabling subsequent research by decoupling optimization from pointwise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backend/beamOptimizer.py:477 _prepare()</a:t>
            </a:r>
          </a:p>
          <a:p xmlns:a="http://schemas.openxmlformats.org/drawingml/2006/main">
            <a:r>
              <a:t>- Local: backend/beamOptimizer.py:527 evaluate()</a:t>
            </a:r>
          </a:p>
          <a:p xmlns:a="http://schemas.openxmlformats.org/drawingml/2006/main">
            <a:r>
              <a:t>- Git commits 7d2bb28, 7c53968, d3d7cbd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Emphasize architectural isolation: backend-specific differences are confined to the bridging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backend/cosyOptHelper.py:18, :93, :162, :196</a:t>
            </a:r>
          </a:p>
          <a:p xmlns:a="http://schemas.openxmlformats.org/drawingml/2006/main">
            <a:r>
              <a:t>- Local: backend/felsimAdapter.py</a:t>
            </a:r>
          </a:p>
          <a:p xmlns:a="http://schemas.openxmlformats.org/drawingml/2006/main">
            <a:r>
              <a:t>- Local: backend/beamEvolution.py, backend/evolutionPlotter.py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Avoid the blanket claim that every scenario is faster.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optimizer_compare/runtime_comparison_beamline_optimization.md</a:t>
            </a:r>
          </a:p>
          <a:p xmlns:a="http://schemas.openxmlformats.org/drawingml/2006/main">
            <a:r>
              <a:t>- Scenario B: PyTorch 142m35s; NumPy 207m38s</a:t>
            </a:r>
          </a:p>
          <a:p xmlns:a="http://schemas.openxmlformats.org/drawingml/2006/main">
            <a:r>
              <a:t>- Triplet: 480.85s versus 2045.76s; UND match: 786.13s versus 1149.20s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Use this slide as the experiment roadmap and the bridge from engineering work to research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experiment/step_1, experiment/step_2, experiment/step_3, experiment/step_4</a:t>
            </a:r>
          </a:p>
          <a:p xmlns:a="http://schemas.openxmlformats.org/drawingml/2006/main">
            <a:r>
              <a:t>- Local: work_progress/work_progress_3.md through work_progress/work_progress_9.md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Establish the experimental variables, objectives, and control conditions before discussing the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experiment/configs.py</a:t>
            </a:r>
          </a:p>
          <a:p xmlns:a="http://schemas.openxmlformats.org/drawingml/2006/main">
            <a:r>
              <a:t>- Local: experiment/step_1/scenario_A_reproduce_v4.ipynb</a:t>
            </a:r>
          </a:p>
          <a:p xmlns:a="http://schemas.openxmlformats.org/drawingml/2006/main">
            <a:r>
              <a:t>- Historical archive: experiment/step_1/scenario_A_reproduce_v4.pdf documents 1000 runs per method; the corresponding v4 PKL is no longer present</a:t>
            </a:r>
          </a:p>
          <a:p xmlns:a="http://schemas.openxmlformats.org/drawingml/2006/main">
            <a:r>
              <a:t>- Local: results/scenario_A_results.pkl, results/scenario_A_trajectories.pkl, results/scenario_A_landscape.pkl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MSE values in the table are geometric means from the final_summary object in the results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results/scenario_A_results.pkl (df_A and final_summary)</a:t>
            </a:r>
          </a:p>
          <a:p xmlns:a="http://schemas.openxmlformats.org/drawingml/2006/main">
            <a:r>
              <a:t>- Noise-free campaign: 500 total optimization runs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landscape is not decorative; it provides evidence explaining why algorithms terminate at different solutions.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results/scenario_A_landscape.pkl (500x500 grid, 250000 evaluations)</a:t>
            </a:r>
          </a:p>
          <a:p xmlns:a="http://schemas.openxmlformats.org/drawingml/2006/main">
            <a:r>
              <a:t>- Local: experiment/step_1/scenario_A_reproduce_v4.ipynb, output cell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All methods use the same random starting points, enabling a fair comparison of optimization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results/scenario_A_trajectories.pkl</a:t>
            </a:r>
          </a:p>
          <a:p xmlns:a="http://schemas.openxmlformats.org/drawingml/2006/main">
            <a:r>
              <a:t>- Local: experiment/step_1/scenario_A_reproduce_v4.ipynb, output cell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June marks the transition from benchmarking to a reusable research toolchain.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commits 7d2bb28, 7c53968, 1f41e94, d3d7cbd</a:t>
            </a:r>
          </a:p>
          <a:p xmlns:a="http://schemas.openxmlformats.org/drawingml/2006/main">
            <a:r>
              <a:t>- Local: work_progress/work_progress_5.md through work_progress/work_progress_7.md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slide captures the full cycle of experimentation, decision-making, and retention of an optional interface.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experiment/step_2/scenario_A_reproduce.ipynb</a:t>
            </a:r>
          </a:p>
          <a:p xmlns:a="http://schemas.openxmlformats.org/drawingml/2006/main">
            <a:r>
              <a:t>- Local: work_progress/work_progress_6.md</a:t>
            </a:r>
          </a:p>
          <a:p xmlns:a="http://schemas.openxmlformats.org/drawingml/2006/main">
            <a:r>
              <a:t>- Git commit 7c53968: use_log and log_epsilon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Present both the achievement and the data-quality issue: random current settings do not always produce physically plausible beams.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experiment/step_2/current_twiss_map.py</a:t>
            </a:r>
          </a:p>
          <a:p xmlns:a="http://schemas.openxmlformats.org/drawingml/2006/main">
            <a:r>
              <a:t>- Local: work_progress/work_progress_6.md</a:t>
            </a:r>
          </a:p>
          <a:p xmlns:a="http://schemas.openxmlformats.org/drawingml/2006/main">
            <a:r>
              <a:t>- Recorded runtime: 102 minutes serial-equivalent to 17 minutes with 6 cores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figure recomputes the strict MSE&lt;1e-3 pass rate from each df_A rather than using the more permissive is_converged flag.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results/scenario_A_results_sigma_1e-08.pkl through scenario_A_results_sigma_1.0.pkl</a:t>
            </a:r>
          </a:p>
          <a:p xmlns:a="http://schemas.openxmlformats.org/drawingml/2006/main">
            <a:r>
              <a:t>- Each sigma file: five methods x 100 runs = 500 optimizations</a:t>
            </a:r>
          </a:p>
          <a:p xmlns:a="http://schemas.openxmlformats.org/drawingml/2006/main">
            <a:r>
              <a:t>- Strict pass rates derived from df_A final_mse; repository is_converged uses EPSILON=1</a:t>
            </a:r>
          </a:p>
          <a:p xmlns:a="http://schemas.openxmlformats.org/drawingml/2006/main">
            <a:r>
              <a:t>- Local: experiment/step_2/scenario_A_reproduce.ipynb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performance bottleneck motivates the subsequent design choices: introducing H_GN and parallel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experiment/step_2/SOBOL_scan.ipynb, output cell 18; file name is historical and sampling is not a Sobol low-discrepancy sequence</a:t>
            </a:r>
          </a:p>
          <a:p xmlns:a="http://schemas.openxmlformats.org/drawingml/2006/main">
            <a:r>
              <a:t>- Local: results/scan_parameters.pkl</a:t>
            </a:r>
          </a:p>
          <a:p xmlns:a="http://schemas.openxmlformats.org/drawingml/2006/main">
            <a:r>
              <a:t>- Measured variable scaling: 104.389s, 313.645s, 700.434s, 1348.088s, 1821.205s for 2,4,6,8,10 variables</a:t>
            </a:r>
          </a:p>
          <a:p xmlns:a="http://schemas.openxmlformats.org/drawingml/2006/main">
            <a:r>
              <a:t>- Current scan_parameters.pkl contains 4 points; the notebook-recorded 1000-point run is no longer present in the current PKL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Phase 4 as coarse-grained multiprocessing across independent simulation tasks. The next slides separate measured results from 24-core projections.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C:/Users/yilu2/my_files/research/FELsim/experiment/step_2/current_twiss_simulation_parallel.py</a:t>
            </a:r>
          </a:p>
          <a:p xmlns:a="http://schemas.openxmlformats.org/drawingml/2006/main">
            <a:r>
              <a:t>- C:/Users/yilu2/my_files/research/FELsim/experiment/experiments_utils.py</a:t>
            </a:r>
          </a:p>
          <a:p xmlns:a="http://schemas.openxmlformats.org/drawingml/2006/main">
            <a:r>
              <a:t>- C:/Users/yilu2/my_files/research/FELsim/experiment/SOBOL_scan.py</a:t>
            </a:r>
          </a:p>
          <a:p xmlns:a="http://schemas.openxmlformats.org/drawingml/2006/main">
            <a:r>
              <a:t>- C:/Users/yilu2/my_files/research/FELsim/work_progress/work_progress_6.md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the parent creates independent tasks, ProcessPoolExecutor fans them out, each worker runs single-threaded numerical kernels, and the parent gathers deterministic outputs. Explain that the same architecture is reused by Twiss mapping, optimizer restarts, and derivative scans.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C:/Users/yilu2/my_files/research/FELsim/experiment/step_2/current_twiss_simulation_parallel.py:59-125</a:t>
            </a:r>
          </a:p>
          <a:p xmlns:a="http://schemas.openxmlformats.org/drawingml/2006/main">
            <a:r>
              <a:t>- C:/Users/yilu2/my_files/research/FELsim/experiment/experiments_utils.py:728-815</a:t>
            </a:r>
          </a:p>
          <a:p xmlns:a="http://schemas.openxmlformats.org/drawingml/2006/main">
            <a:r>
              <a:t>- C:/Users/yilu2/my_files/research/FELsim/experiment/SOBOL_scan.py:391-540</a:t>
            </a:r>
          </a:p>
          <a:p xmlns:a="http://schemas.openxmlformats.org/drawingml/2006/main">
            <a:r>
              <a:t>- C:/Users/yilu2/my_files/research/FELsim/experiment/step_3/baseline_eval_multiprocess.py:94-164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integrity statement: there is no recorded completed 24-core Koa run. The Twiss benchmark is measured at 102 minutes serial and 17 minutes on six cores. The 24-core values divide measured serial workloads by 24 and therefore describe compute-only projections. The optimizer-batch projection uses the archived 23 h 53 min serial workload.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C:/Users/yilu2/my_files/research/FELsim/work_progress/work_progress_5.md:8-19</a:t>
            </a:r>
          </a:p>
          <a:p xmlns:a="http://schemas.openxmlformats.org/drawingml/2006/main">
            <a:r>
              <a:t>- C:/Users/yilu2/my_files/research/FELsim/work_progress/work_progress_6.md:10-30</a:t>
            </a:r>
          </a:p>
          <a:p xmlns:a="http://schemas.openxmlformats.org/drawingml/2006/main">
            <a:r>
              <a:t>- C:/Users/yilu2/my_files/research/FELsim/work_progress/work_progress_7.md:14</a:t>
            </a:r>
          </a:p>
          <a:p xmlns:a="http://schemas.openxmlformats.org/drawingml/2006/main">
            <a:r>
              <a:t>- C:/Users/yilu2/my_files/research/FELsim/experiment/step_2/current_twiss_simulation_parallel.py:19-125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where multiprocessing is applied. The outer workload is parallel: a current vector, optimizer restart, or scan point is one process task. Inside a task, beam propagation and finite-difference Jacobian/Hessian calculations remain serial. Also note that the historical 'SOBOL' filenames use pseudorandom uniform/Gaussian sampling rather than a Sobol low-discrepancy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C:/Users/yilu2/my_files/research/FELsim/experiment/step_2/current_twiss_simulation_parallel.py:59-125</a:t>
            </a:r>
          </a:p>
          <a:p xmlns:a="http://schemas.openxmlformats.org/drawingml/2006/main">
            <a:r>
              <a:t>- C:/Users/yilu2/my_files/research/FELsim/experiment/experiments_utils.py:728-815</a:t>
            </a:r>
          </a:p>
          <a:p xmlns:a="http://schemas.openxmlformats.org/drawingml/2006/main">
            <a:r>
              <a:t>- C:/Users/yilu2/my_files/research/FELsim/experiment/SOBOL_scan.py:228-267,391-478</a:t>
            </a:r>
          </a:p>
          <a:p xmlns:a="http://schemas.openxmlformats.org/drawingml/2006/main">
            <a:r>
              <a:t>- C:/Users/yilu2/my_files/research/FELsim/experiment/step_2/SOBOL_scan_multiprocess.ipynb</a:t>
            </a:r>
          </a:p>
          <a:p xmlns:a="http://schemas.openxmlformats.org/drawingml/2006/main">
            <a:r>
              <a:t>- C:/Users/yilu2/my_files/research/FELsim/results/scan_parameters.pkl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 the scientific narrative after the dedicated parallelization section. This phase uses the multiprocessing-enabled experiment pipeline to study close/far loss and local curvature.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C:/Users/yilu2/my_files/research/FELsim/experiment/step_3</a:t>
            </a:r>
          </a:p>
          <a:p xmlns:a="http://schemas.openxmlformats.org/drawingml/2006/main">
            <a:r>
              <a:t>- C:/Users/yilu2/my_files/research/FELsim/experiment/step_4</a:t>
            </a:r>
          </a:p>
          <a:p xmlns:a="http://schemas.openxmlformats.org/drawingml/2006/main">
            <a:r>
              <a:t>- C:/Users/yilu2/my_files/research/FELsim/results/benchmark_scan_multi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All three objective configurations use the same analysis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experiment/step_3</a:t>
            </a:r>
          </a:p>
          <a:p xmlns:a="http://schemas.openxmlformats.org/drawingml/2006/main">
            <a:r>
              <a:t>- Local: results/benchmark_scan, results/benchmark_scan_multi (60 close/far samples per folder)</a:t>
            </a:r>
          </a:p>
          <a:p xmlns:a="http://schemas.openxmlformats.org/drawingml/2006/main">
            <a:r>
              <a:t>- Local: work_progress/work_progress_8.md</a:t>
            </a:r>
          </a:p>
          <a:p xmlns:a="http://schemas.openxmlformats.org/drawingml/2006/main">
            <a:r>
              <a:t>- Implementation note: variable order originates from list(set(...)); saved coordinates may swap axes across sessions</a:t>
            </a:r>
          </a:p>
          <a:p xmlns:a="http://schemas.openxmlformats.org/drawingml/2006/main">
            <a:r>
              <a:t>- Sampling note: no Sobol low-discrepancy sequence is called despite historical SOBOL naming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The rise in far-region loss is a reliable archived result; multi-objective second-order interpretation requires recomputation after correcting the residual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results/benchmark_scan_multi</a:t>
            </a:r>
          </a:p>
          <a:p xmlns:a="http://schemas.openxmlformats.org/drawingml/2006/main">
            <a:r>
              <a:t>- Multi-process far/close median ratios: Case1 133x, Case2 3.87e3x, Case3 5.45e4x</a:t>
            </a:r>
          </a:p>
          <a:p xmlns:a="http://schemas.openxmlformats.org/drawingml/2006/main">
            <a:r>
              <a:t>- Stored eigenvalue counts: close negative/flat/positive = 40/30/20; far = 28/44/18</a:t>
            </a:r>
          </a:p>
          <a:p xmlns:a="http://schemas.openxmlformats.org/drawingml/2006/main">
            <a:r>
              <a:t>- Implementation limit: compute_weighted_MSE builds residuals by objective location and only reads the first target at a multi-target location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Frame this figure as an implemented research prototype, not a final quantitative second-order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experiment/step_4/plot_summary.ipynb, output cell 7</a:t>
            </a:r>
          </a:p>
          <a:p xmlns:a="http://schemas.openxmlformats.org/drawingml/2006/main">
            <a:r>
              <a:t>- Local: results/scan_parameters.pkl</a:t>
            </a:r>
          </a:p>
          <a:p xmlns:a="http://schemas.openxmlformats.org/drawingml/2006/main">
            <a:r>
              <a:t>- Local: work_progress/work_progress_9.md</a:t>
            </a:r>
          </a:p>
          <a:p xmlns:a="http://schemas.openxmlformats.org/drawingml/2006/main">
            <a:r>
              <a:t>- Implementation limit: eigenvectors are iterated by rows in cell 7; NumPy eigenvectors are stored by columns</a:t>
            </a:r>
          </a:p>
          <a:p xmlns:a="http://schemas.openxmlformats.org/drawingml/2006/main">
            <a:r>
              <a:t>- Implementation limit: cell 3 logs a residual-vector element rather than scalar phi/MSE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slide completes the June–August commit-level timeline, complementing the detailed April timeline shown earlier.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Git log on branch pytorch_transform from 2026-06-05 through 2026-08-10</a:t>
            </a:r>
          </a:p>
          <a:p xmlns:a="http://schemas.openxmlformats.org/drawingml/2006/main">
            <a:r>
              <a:t>- Git commits 7d2bb28, c560bdc, 7c53968, 1f41e94, c88962f, d3d7cbd</a:t>
            </a:r>
          </a:p>
          <a:p xmlns:a="http://schemas.openxmlformats.org/drawingml/2006/main">
            <a:r>
              <a:t>- Git commits 8b25364, f86d162, df43c47, 5e35deb, ec82112, 032121e</a:t>
            </a:r>
          </a:p>
          <a:p xmlns:a="http://schemas.openxmlformats.org/drawingml/2006/main">
            <a:r>
              <a:t>- Local: work_progress/work_progress_5.md through work_progress/work_progress_9.md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This slide enables the advisor to quickly locate the evidence supporting each deliverable.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backend, experiment, results, work_progress</a:t>
            </a:r>
          </a:p>
          <a:p xmlns:a="http://schemas.openxmlformats.org/drawingml/2006/main">
            <a:r>
              <a:t>- Git diff 5e5cb7c..HEAD -- backend experiment results work_progress: 103 files, about 33652 insertions and 777 deletions; notebooks inflate counts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Present the technical debt as evidence of an accurate understanding of the current system, not as a qualification of the completed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requirements.txt</a:t>
            </a:r>
          </a:p>
          <a:p xmlns:a="http://schemas.openxmlformats.org/drawingml/2006/main">
            <a:r>
              <a:t>- Local: backend/beamUtility.py, backend/felsimAdapter.py, backend/felAPI.py</a:t>
            </a:r>
          </a:p>
          <a:p xmlns:a="http://schemas.openxmlformats.org/drawingml/2006/main">
            <a:r>
              <a:t>- Local: backend/schematic.py, backend/beamOptimizer.py</a:t>
            </a:r>
          </a:p>
          <a:p xmlns:a="http://schemas.openxmlformats.org/drawingml/2006/main">
            <a:r>
              <a:t>- Local: finished_test/overview.md and notebook-based validation files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notes</a:t>
            </a:r>
          </a:p>
          <a:p xmlns:a="http://schemas.openxmlformats.org/drawingml/2006/main">
            <a:r>
              <a:t>- Return to the advisor’s two central questions, then close with the immediate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repository evidence summarized throughout this deck</a:t>
            </a:r>
          </a:p>
          <a:p xmlns:a="http://schemas.openxmlformats.org/drawingml/2006/main">
            <a:r>
              <a:t>- Repository: https://github.com/Louis-26/FELsim/tree/pytorch_transform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5533fd689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aa7cd40be5479c" /><Relationship Type="http://schemas.openxmlformats.org/officeDocument/2006/relationships/slideLayout" Target="/ppt/slideLayouts/slideLayout1.xml" Id="Ra17b51cd7dc544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7b51cd7dc544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6b80f7ff54d6e" /><Relationship Type="http://schemas.openxmlformats.org/officeDocument/2006/relationships/notesSlide" Target="/ppt/notesSlides/notesSlide1.xml" Id="Ra7ad54d516bb46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22da2b5aa4bf0" /><Relationship Type="http://schemas.openxmlformats.org/officeDocument/2006/relationships/notesSlide" Target="/ppt/notesSlides/notesSlide2.xml" Id="Rbb925bf828da41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9ed1e0704415f" /><Relationship Type="http://schemas.openxmlformats.org/officeDocument/2006/relationships/notesSlide" Target="/ppt/notesSlides/notesSlide3.xml" Id="R532a5dac1cd143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4ee2af399475d" /><Relationship Type="http://schemas.openxmlformats.org/officeDocument/2006/relationships/notesSlide" Target="/ppt/notesSlides/notesSlide4.xml" Id="R09307fbb86d140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a1a8c5c5b4c8a" /><Relationship Type="http://schemas.openxmlformats.org/officeDocument/2006/relationships/notesSlide" Target="/ppt/notesSlides/notesSlide5.xml" Id="R8b9ea2a4bc084b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71689ebc849d3" /><Relationship Type="http://schemas.openxmlformats.org/officeDocument/2006/relationships/notesSlide" Target="/ppt/notesSlides/notesSlide6.xml" Id="Ra19dd7ef22c4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d337a5f234efd" /><Relationship Type="http://schemas.openxmlformats.org/officeDocument/2006/relationships/notesSlide" Target="/ppt/notesSlides/notesSlide7.xml" Id="Raf0cfa073b7d43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d702d92464a88" /><Relationship Type="http://schemas.openxmlformats.org/officeDocument/2006/relationships/notesSlide" Target="/ppt/notesSlides/notesSlide8.xml" Id="Rbdff0c4d4ecd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4435f92b44a2f" /><Relationship Type="http://schemas.openxmlformats.org/officeDocument/2006/relationships/notesSlide" Target="/ppt/notesSlides/notesSlide9.xml" Id="Rf1c2270db74044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baa79c1864710" /><Relationship Type="http://schemas.openxmlformats.org/officeDocument/2006/relationships/notesSlide" Target="/ppt/notesSlides/notesSlide10.xml" Id="Rc256cfd6e00541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30318c5234d61" /><Relationship Type="http://schemas.openxmlformats.org/officeDocument/2006/relationships/notesSlide" Target="/ppt/notesSlides/notesSlide11.xml" Id="R0da933540c244e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6504096244e79" /><Relationship Type="http://schemas.openxmlformats.org/officeDocument/2006/relationships/notesSlide" Target="/ppt/notesSlides/notesSlide12.xml" Id="R9fe0a052985440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c5ad94fb249db" /><Relationship Type="http://schemas.openxmlformats.org/officeDocument/2006/relationships/notesSlide" Target="/ppt/notesSlides/notesSlide13.xml" Id="R0d63d4fa50f645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d9371034249ac" /><Relationship Type="http://schemas.openxmlformats.org/officeDocument/2006/relationships/notesSlide" Target="/ppt/notesSlides/notesSlide14.xml" Id="R53812f4467f246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1883226b04e56" /><Relationship Type="http://schemas.openxmlformats.org/officeDocument/2006/relationships/notesSlide" Target="/ppt/notesSlides/notesSlide15.xml" Id="R93c4d424495a42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05699e0364bcd" /><Relationship Type="http://schemas.openxmlformats.org/officeDocument/2006/relationships/notesSlide" Target="/ppt/notesSlides/notesSlide16.xml" Id="Rc8224b3398aa41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8d30cb1a548fb" /><Relationship Type="http://schemas.openxmlformats.org/officeDocument/2006/relationships/chart" Target="/ppt/slides/charts/chart1.xml" Id="R55859b91d00c4dd6" /><Relationship Type="http://schemas.openxmlformats.org/officeDocument/2006/relationships/notesSlide" Target="/ppt/notesSlides/notesSlide17.xml" Id="R24d61678397c44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685b6044d4183" /><Relationship Type="http://schemas.openxmlformats.org/officeDocument/2006/relationships/notesSlide" Target="/ppt/notesSlides/notesSlide18.xml" Id="Rc8515e198e464ae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08ad5b384446d" /><Relationship Type="http://schemas.openxmlformats.org/officeDocument/2006/relationships/notesSlide" Target="/ppt/notesSlides/notesSlide19.xml" Id="R281a7ab26cd246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fcdfdab424ca5" /><Relationship Type="http://schemas.openxmlformats.org/officeDocument/2006/relationships/notesSlide" Target="/ppt/notesSlides/notesSlide20.xml" Id="R63bede1b04a748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6816bfaaf4792" /><Relationship Type="http://schemas.openxmlformats.org/officeDocument/2006/relationships/image" Target="/ppt/media/image.png" Id="R478a50654de34c43" /><Relationship Type="http://schemas.openxmlformats.org/officeDocument/2006/relationships/notesSlide" Target="/ppt/notesSlides/notesSlide21.xml" Id="Rcbcb9de88cde46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f30f9e4534073" /><Relationship Type="http://schemas.openxmlformats.org/officeDocument/2006/relationships/image" Target="/ppt/media/image2.png" Id="R82eafcd2f87e4559" /><Relationship Type="http://schemas.openxmlformats.org/officeDocument/2006/relationships/notesSlide" Target="/ppt/notesSlides/notesSlide22.xml" Id="Rcacd3bfc99604a6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ea965495842d2" /><Relationship Type="http://schemas.openxmlformats.org/officeDocument/2006/relationships/notesSlide" Target="/ppt/notesSlides/notesSlide23.xml" Id="R09da91e61f3a465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edaf4f9b448f9" /><Relationship Type="http://schemas.openxmlformats.org/officeDocument/2006/relationships/chart" Target="/ppt/slides/charts/chart2.xml" Id="R8b22a7849e7445a9" /><Relationship Type="http://schemas.openxmlformats.org/officeDocument/2006/relationships/notesSlide" Target="/ppt/notesSlides/notesSlide24.xml" Id="Rf7d110d0c0f143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d7f2cb9cc4cdd" /><Relationship Type="http://schemas.openxmlformats.org/officeDocument/2006/relationships/notesSlide" Target="/ppt/notesSlides/notesSlide25.xml" Id="Re9ab4764e7b0410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e18fe3f7d44f5" /><Relationship Type="http://schemas.openxmlformats.org/officeDocument/2006/relationships/chart" Target="/ppt/slides/charts/chart3.xml" Id="Redebbde3a5eb4321" /><Relationship Type="http://schemas.openxmlformats.org/officeDocument/2006/relationships/notesSlide" Target="/ppt/notesSlides/notesSlide26.xml" Id="R3ccc6177fb1646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880ed3e944f3" /><Relationship Type="http://schemas.openxmlformats.org/officeDocument/2006/relationships/image" Target="/ppt/media/image3.png" Id="R32d1ac18908642e4" /><Relationship Type="http://schemas.openxmlformats.org/officeDocument/2006/relationships/notesSlide" Target="/ppt/notesSlides/notesSlide27.xml" Id="R67f2a861c95b4e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7b500540b4129" /><Relationship Type="http://schemas.openxmlformats.org/officeDocument/2006/relationships/notesSlide" Target="/ppt/notesSlides/notesSlide28.xml" Id="R778909f2ef83443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d2d7566b34551" /><Relationship Type="http://schemas.openxmlformats.org/officeDocument/2006/relationships/notesSlide" Target="/ppt/notesSlides/notesSlide29.xml" Id="Rd6b7c91a588843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824fe38094ebe" /><Relationship Type="http://schemas.openxmlformats.org/officeDocument/2006/relationships/chart" Target="/ppt/slides/charts/chart4.xml" Id="R2322d19d56d24115" /><Relationship Type="http://schemas.openxmlformats.org/officeDocument/2006/relationships/notesSlide" Target="/ppt/notesSlides/notesSlide30.xml" Id="R71a139abb111423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50050e3b4b86" /><Relationship Type="http://schemas.openxmlformats.org/officeDocument/2006/relationships/notesSlide" Target="/ppt/notesSlides/notesSlide31.xml" Id="Rc8a95dfd048d44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31439a58b4466" /><Relationship Type="http://schemas.openxmlformats.org/officeDocument/2006/relationships/notesSlide" Target="/ppt/notesSlides/notesSlide32.xml" Id="Rf340cc5313d0452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4694a629442df" /><Relationship Type="http://schemas.openxmlformats.org/officeDocument/2006/relationships/notesSlide" Target="/ppt/notesSlides/notesSlide33.xml" Id="R88ec7084da3c488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9296506914715" /><Relationship Type="http://schemas.openxmlformats.org/officeDocument/2006/relationships/notesSlide" Target="/ppt/notesSlides/notesSlide34.xml" Id="Ra7aecfdf4bf54da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55370c4c74788" /><Relationship Type="http://schemas.openxmlformats.org/officeDocument/2006/relationships/image" Target="/ppt/media/image4.png" Id="Rdb0200f640674823" /><Relationship Type="http://schemas.openxmlformats.org/officeDocument/2006/relationships/notesSlide" Target="/ppt/notesSlides/notesSlide35.xml" Id="R0e33e3173cc84b6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e96b668374d8d" /><Relationship Type="http://schemas.openxmlformats.org/officeDocument/2006/relationships/notesSlide" Target="/ppt/notesSlides/notesSlide36.xml" Id="R457a959c209b4b0d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1a00bef834d03" /><Relationship Type="http://schemas.openxmlformats.org/officeDocument/2006/relationships/notesSlide" Target="/ppt/notesSlides/notesSlide37.xml" Id="R01c7b6c5c21d468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b09e64a0b40c3" /><Relationship Type="http://schemas.openxmlformats.org/officeDocument/2006/relationships/notesSlide" Target="/ppt/notesSlides/notesSlide38.xml" Id="R348dff71176f4b3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fe417157e4be0" /><Relationship Type="http://schemas.openxmlformats.org/officeDocument/2006/relationships/notesSlide" Target="/ppt/notesSlides/notesSlide39.xml" Id="Rb7be0c0a434647e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PyTorch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Scenario B
Total time</c:v>
              </c:pt>
              <c:pt idx="1">
                <c:v>Triplet</c:v>
              </c:pt>
              <c:pt idx="2">
                <c:v>UND match</c:v>
              </c:pt>
            </c:strLit>
          </c:cat>
          <c:val>
            <c:numLit>
              <c:formatCode>General</c:formatCode>
              <c:ptCount val="3"/>
              <c:pt idx="0">
                <c:v>142.58</c:v>
              </c:pt>
              <c:pt idx="1">
                <c:v>8.01</c:v>
              </c:pt>
              <c:pt idx="2">
                <c:v>13.1</c:v>
              </c:pt>
            </c:numLit>
          </c:val>
        </c:ser>
        <c:ser>
          <c:idx val="1"/>
          <c:order val="1"/>
          <c:tx>
            <c:v>NumPy</c:v>
          </c:tx>
          <c:spPr>
            <a:solidFill xmlns:a="http://schemas.openxmlformats.org/drawingml/2006/main">
              <a:srgbClr val="D7DEE7"/>
            </a:solidFill>
          </c:spPr>
          <c:cat>
            <c:strLit>
              <c:ptCount val="3"/>
              <c:pt idx="0">
                <c:v>Scenario B
Total time</c:v>
              </c:pt>
              <c:pt idx="1">
                <c:v>Triplet</c:v>
              </c:pt>
              <c:pt idx="2">
                <c:v>UND match</c:v>
              </c:pt>
            </c:strLit>
          </c:cat>
          <c:val>
            <c:numLit>
              <c:formatCode>General</c:formatCode>
              <c:ptCount val="3"/>
              <c:pt idx="0">
                <c:v>207.63</c:v>
              </c:pt>
              <c:pt idx="1">
                <c:v>34.1</c:v>
              </c:pt>
              <c:pt idx="2">
                <c:v>19.15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2606D"/>
                    </a:solidFill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2606D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6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MSE</c:v>
          </c:tx>
          <c:spPr>
            <a:solidFill xmlns:a="http://schemas.openxmlformats.org/drawingml/2006/main">
              <a:srgbClr val="D7DEE7"/>
            </a:solidFill>
          </c:spPr>
          <c:cat>
            <c:strLit>
              <c:ptCount val="5"/>
              <c:pt idx="0">
                <c:v>N-M</c:v>
              </c:pt>
              <c:pt idx="1">
                <c:v>L-BFGS-B</c:v>
              </c:pt>
              <c:pt idx="2">
                <c:v>SLSQP</c:v>
              </c:pt>
              <c:pt idx="3">
                <c:v>COBYLA</c:v>
              </c:pt>
              <c:pt idx="4">
                <c:v>trust</c:v>
              </c:pt>
            </c:strLit>
          </c:cat>
          <c:val>
            <c:numLit>
              <c:formatCode>General</c:formatCode>
              <c:ptCount val="5"/>
              <c:pt idx="0">
                <c:v>15.54</c:v>
              </c:pt>
              <c:pt idx="1">
                <c:v>9.8</c:v>
              </c:pt>
              <c:pt idx="2">
                <c:v>9.98</c:v>
              </c:pt>
              <c:pt idx="3">
                <c:v>56.29</c:v>
              </c:pt>
              <c:pt idx="4">
                <c:v>17.68</c:v>
              </c:pt>
            </c:numLit>
          </c:val>
        </c:ser>
        <c:ser>
          <c:idx val="1"/>
          <c:order val="1"/>
          <c:tx>
            <c:v>logMSE</c:v>
          </c:tx>
          <c:spPr>
            <a:solidFill xmlns:a="http://schemas.openxmlformats.org/drawingml/2006/main">
              <a:srgbClr val="7D6CF2"/>
            </a:solidFill>
          </c:spPr>
          <c:cat>
            <c:strLit>
              <c:ptCount val="5"/>
              <c:pt idx="0">
                <c:v>N-M</c:v>
              </c:pt>
              <c:pt idx="1">
                <c:v>L-BFGS-B</c:v>
              </c:pt>
              <c:pt idx="2">
                <c:v>SLSQP</c:v>
              </c:pt>
              <c:pt idx="3">
                <c:v>COBYLA</c:v>
              </c:pt>
              <c:pt idx="4">
                <c:v>trust</c:v>
              </c:pt>
            </c:strLit>
          </c:cat>
          <c:val>
            <c:numLit>
              <c:formatCode>General</c:formatCode>
              <c:ptCount val="5"/>
              <c:pt idx="0">
                <c:v>34.36</c:v>
              </c:pt>
              <c:pt idx="1">
                <c:v>93.96</c:v>
              </c:pt>
              <c:pt idx="2">
                <c:v>24.17</c:v>
              </c:pt>
              <c:pt idx="3">
                <c:v>107.43</c:v>
              </c:pt>
              <c:pt idx="4">
                <c:v>234.45</c:v>
              </c:pt>
            </c:numLit>
          </c:val>
        </c:ser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Mean seconds (3 starts)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Nelder–Mead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5"/>
              <c:pt idx="0">
                <c:v>1e-8</c:v>
              </c:pt>
              <c:pt idx="1">
                <c:v>1e-6</c:v>
              </c:pt>
              <c:pt idx="2">
                <c:v>1e-4</c:v>
              </c:pt>
              <c:pt idx="3">
                <c:v>1e-2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0.95</c:v>
              </c:pt>
              <c:pt idx="1">
                <c:v>0.95</c:v>
              </c:pt>
              <c:pt idx="2">
                <c:v>0.93</c:v>
              </c:pt>
              <c:pt idx="3">
                <c:v>0.23</c:v>
              </c:pt>
              <c:pt idx="4">
                <c:v>0.07</c:v>
              </c:pt>
            </c:numLit>
          </c:val>
        </c:ser>
        <c:ser>
          <c:idx val="1"/>
          <c:order val="1"/>
          <c:tx>
            <c:v>L-BFGS-B</c:v>
          </c:tx>
          <c:spPr>
            <a:ln xmlns:a="http://schemas.openxmlformats.org/drawingml/2006/main" w="28575">
              <a:solidFill>
                <a:srgbClr val="7D6CF2"/>
              </a:solidFill>
              <a:prstDash val="solid"/>
            </a:ln>
          </c:spPr>
          <c:marker>
            <c:symbol val="diamond"/>
            <c:size val="7"/>
            <c:spPr>
              <a:solidFill xmlns:a="http://schemas.openxmlformats.org/drawingml/2006/main">
                <a:srgbClr val="7D6CF2"/>
              </a:solidFill>
            </c:spPr>
          </c:marker>
          <c:cat>
            <c:numLit>
              <c:formatCode>General</c:formatCode>
              <c:ptCount val="5"/>
              <c:pt idx="0">
                <c:v>1e-8</c:v>
              </c:pt>
              <c:pt idx="1">
                <c:v>1e-6</c:v>
              </c:pt>
              <c:pt idx="2">
                <c:v>1e-4</c:v>
              </c:pt>
              <c:pt idx="3">
                <c:v>1e-2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0.11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2"/>
          <c:order val="2"/>
          <c:tx>
            <c:v>SLSQP</c:v>
          </c:tx>
          <c:spPr>
            <a:ln xmlns:a="http://schemas.openxmlformats.org/drawingml/2006/main" w="28575">
              <a:solidFill>
                <a:srgbClr val="E86452"/>
              </a:solidFill>
              <a:prstDash val="solid"/>
            </a:ln>
          </c:spPr>
          <c:marker>
            <c:symbol val="square"/>
            <c:size val="7"/>
            <c:spPr>
              <a:solidFill xmlns:a="http://schemas.openxmlformats.org/drawingml/2006/main">
                <a:srgbClr val="E86452"/>
              </a:solidFill>
            </c:spPr>
          </c:marker>
          <c:cat>
            <c:numLit>
              <c:formatCode>General</c:formatCode>
              <c:ptCount val="5"/>
              <c:pt idx="0">
                <c:v>1e-8</c:v>
              </c:pt>
              <c:pt idx="1">
                <c:v>1e-6</c:v>
              </c:pt>
              <c:pt idx="2">
                <c:v>1e-4</c:v>
              </c:pt>
              <c:pt idx="3">
                <c:v>1e-2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0.08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ser>
          <c:idx val="3"/>
          <c:order val="3"/>
          <c:tx>
            <c:v>COBYLA</c:v>
          </c:tx>
          <c:spPr>
            <a:ln xmlns:a="http://schemas.openxmlformats.org/drawingml/2006/main" w="28575">
              <a:solidFill>
                <a:srgbClr val="2AA876"/>
              </a:solidFill>
              <a:prstDash val="solid"/>
            </a:ln>
          </c:spPr>
          <c:marker>
            <c:symbol val="triangle"/>
            <c:size val="7"/>
            <c:spPr>
              <a:solidFill xmlns:a="http://schemas.openxmlformats.org/drawingml/2006/main">
                <a:srgbClr val="2AA876"/>
              </a:solidFill>
            </c:spPr>
          </c:marker>
          <c:cat>
            <c:numLit>
              <c:formatCode>General</c:formatCode>
              <c:ptCount val="5"/>
              <c:pt idx="0">
                <c:v>1e-8</c:v>
              </c:pt>
              <c:pt idx="1">
                <c:v>1e-6</c:v>
              </c:pt>
              <c:pt idx="2">
                <c:v>1e-4</c:v>
              </c:pt>
              <c:pt idx="3">
                <c:v>1e-2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0.88</c:v>
              </c:pt>
              <c:pt idx="1">
                <c:v>0.81</c:v>
              </c:pt>
              <c:pt idx="2">
                <c:v>0.36</c:v>
              </c:pt>
              <c:pt idx="3">
                <c:v>0.07</c:v>
              </c:pt>
              <c:pt idx="4">
                <c:v>0</c:v>
              </c:pt>
            </c:numLit>
          </c:val>
        </c:ser>
        <c:ser>
          <c:idx val="4"/>
          <c:order val="4"/>
          <c:tx>
            <c:v>trust-constr</c:v>
          </c:tx>
          <c:spPr>
            <a:ln xmlns:a="http://schemas.openxmlformats.org/drawingml/2006/main" w="28575">
              <a:solidFill>
                <a:srgbClr val="F2A93B"/>
              </a:solidFill>
              <a:prstDash val="solid"/>
            </a:ln>
          </c:spPr>
          <c:marker>
            <c:symbol val="x"/>
            <c:size val="7"/>
            <c:spPr>
              <a:solidFill xmlns:a="http://schemas.openxmlformats.org/drawingml/2006/main">
                <a:srgbClr val="F2A93B"/>
              </a:solidFill>
            </c:spPr>
          </c:marker>
          <c:cat>
            <c:numLit>
              <c:formatCode>General</c:formatCode>
              <c:ptCount val="5"/>
              <c:pt idx="0">
                <c:v>1e-8</c:v>
              </c:pt>
              <c:pt idx="1">
                <c:v>1e-6</c:v>
              </c:pt>
              <c:pt idx="2">
                <c:v>1e-4</c:v>
              </c:pt>
              <c:pt idx="3">
                <c:v>1e-2</c:v>
              </c:pt>
              <c:pt idx="4">
                <c:v>1</c:v>
              </c:pt>
            </c:numLit>
          </c:cat>
          <c:val>
            <c:numLit>
              <c:formatCode>0%</c:formatCode>
              <c:ptCount val="5"/>
              <c:pt idx="0">
                <c:v>0.13</c:v>
              </c:pt>
              <c:pt idx="1">
                <c:v>0</c:v>
              </c:pt>
              <c:pt idx="2">
                <c:v>0.01</c:v>
              </c:pt>
              <c:pt idx="3">
                <c:v>0</c:v>
              </c:pt>
              <c:pt idx="4">
                <c:v>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Gaussian current noise σ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B122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BF0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2606D"/>
                    </a:solidFill>
                  </a:rPr>
                  <a:t>Share with MSE &lt; 1e-3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2606D"/>
                  </a:solidFill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B1220"/>
                </a:solidFill>
              </a:rPr>
              <a:t>Compute wall time (minutes, log scale)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B1220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Serial (measured)</c:v>
          </c:tx>
          <c:spPr>
            <a:solidFill xmlns:a="http://schemas.openxmlformats.org/drawingml/2006/main">
              <a:srgbClr val="7B8794"/>
            </a:solidFill>
          </c:spPr>
          <c:cat>
            <c:strLit>
              <c:ptCount val="2"/>
              <c:pt idx="0">
                <c:v>Twiss map
1,000 samples</c:v>
              </c:pt>
              <c:pt idx="1">
                <c:v>Optimizer batch
5,000 restarts</c:v>
              </c:pt>
            </c:strLit>
          </c:cat>
          <c:val>
            <c:numLit>
              <c:formatCode>0.0</c:formatCode>
              <c:ptCount val="2"/>
              <c:pt idx="0">
                <c:v>102</c:v>
              </c:pt>
              <c:pt idx="1">
                <c:v>1433</c:v>
              </c:pt>
            </c:numLit>
          </c:val>
        </c:ser>
        <c:ser>
          <c:idx val="1"/>
          <c:order val="1"/>
          <c:tx>
            <c:v>6-core (measured)</c:v>
          </c:tx>
          <c:spPr>
            <a:solidFill xmlns:a="http://schemas.openxmlformats.org/drawingml/2006/main">
              <a:srgbClr val="3B82F6"/>
            </a:solidFill>
          </c:spPr>
          <c:cat>
            <c:strLit>
              <c:ptCount val="2"/>
              <c:pt idx="0">
                <c:v>Twiss map
1,000 samples</c:v>
              </c:pt>
              <c:pt idx="1">
                <c:v>Optimizer batch
5,000 restarts</c:v>
              </c:pt>
            </c:strLit>
          </c:cat>
          <c:val>
            <c:numLit>
              <c:formatCode>0.0</c:formatCode>
              <c:ptCount val="2"/>
              <c:pt idx="0">
                <c:v>17</c:v>
              </c:pt>
              <c:pt idx="1">
                <c:v>0</c:v>
              </c:pt>
            </c:numLit>
          </c:val>
        </c:ser>
        <c:ser>
          <c:idx val="2"/>
          <c:order val="2"/>
          <c:tx>
            <c:v>24-core (projected)</c:v>
          </c:tx>
          <c:spPr>
            <a:solidFill xmlns:a="http://schemas.openxmlformats.org/drawingml/2006/main">
              <a:srgbClr val="2AA876"/>
            </a:solidFill>
          </c:spPr>
          <c:cat>
            <c:strLit>
              <c:ptCount val="2"/>
              <c:pt idx="0">
                <c:v>Twiss map
1,000 samples</c:v>
              </c:pt>
              <c:pt idx="1">
                <c:v>Optimizer batch
5,000 restarts</c:v>
              </c:pt>
            </c:strLit>
          </c:cat>
          <c:val>
            <c:numLit>
              <c:formatCode>0.0</c:formatCode>
              <c:ptCount val="2"/>
              <c:pt idx="0">
                <c:v>4.25</c:v>
              </c:pt>
              <c:pt idx="1">
                <c:v>59.7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B12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logBase val="10"/>
          <c:orientation val="minMax"/>
          <c:max val="2000"/>
          <c:min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9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2606D"/>
                    </a:solidFill>
                  </a:rPr>
                  <a:t>Minutes (log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2606D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06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AD4A1-1B0A-4E0E-8227-4A4E35C5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FELSIM · 2026.04—2026.08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41FF7-5FE5-4F37-82EC-5E0BD811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FELSim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Work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AB17C-EFCB-41C6-B9EA-32FD24A3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95725"/>
            <a:ext cx="8334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From PyTorch core migration to a unified simulation architecture—and research on optimizers, noise, and Hessian 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20B7-A7C6-42E9-AEF3-5D16C7D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51CB-ECE5-43F5-8152-C85628DC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05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Presented by: Yi Lu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103B2-6CA0-4B16-AA05-358265A6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Repository: github.com/Louis-26/FELsim · Branch: pytorch_transform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A161F-9EE5-4200-97B8-2977CC9F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7640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7D71A-15CA-4C96-BFE5-0B993AD1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3835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Tensor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5ADE9-FF17-4479-A496-EBECDE1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76525"/>
            <a:ext cx="1295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4A030-BD9F-4FEF-A792-33114A35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90850"/>
            <a:ext cx="1666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Adapter</a:t>
            </a:r>
          </a:p>
        </p:txBody>
      </p:sp>
    </p:spTree>
    <p:extLst>
      <p:ext uri="{BB962C8B-B14F-4D97-AF65-F5344CB8AC3E}">
        <p14:creationId xmlns:p14="http://schemas.microsoft.com/office/powerpoint/2010/main" val="2125144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232F8-9635-464C-A72B-B91F6750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FELSIM · WORK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A7F8E-46FD-4A49-BB63-0982E72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Executive Summary: Core × Architecture × Research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B101B-EFBA-4A68-A320-14D21AB2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Beyond replacing NumPy, the work established reusable evaluation capabilities across the experiment and results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3E865-5417-4BA8-BED6-BFB1D55A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7049B-B1BF-42B8-827B-AAA90232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BA0A1-561D-4A63-A282-24BDDD5A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FB797-B343-4672-9EE5-6AB5100C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61959-DC3C-4F4B-8874-100FE0AE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Tensor Migration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B46D0-D824-473D-9F8D-BD98A329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Core Propagation &amp; Statistics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7D199-37FF-4323-A7C7-A3ED3BB4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beamline / ebeam / utilities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CB7C2-D08D-4BDE-ACEA-52A6DE16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81BA2-2809-47F8-BA94-96C6158D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9A813-0F0C-491F-9A33-52344064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Dual Adapters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FA549-801B-40CA-BCF1-F48AC423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Unified Simulation Architecture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18584-CFEC-4D62-BBA3-12E74AC9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52750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Shared Results Layer for FELsim and COSY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D5CD3-19B7-4DF6-A5B2-C8C48B69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9092A-3A7F-4D0E-905E-357F0EE3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073F1A-FEB0-4F67-8BD7-BF1D0AE5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Step 1—4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A04D1-6A67-4D9C-BC97-7C5C160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Optimization Research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CC9AD-B5B0-40EE-A361-0D9A8B27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landscape · noise · random scan · Hessian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54D02D-3E69-4A00-AFE5-1A9B38D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13919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5744F-9CF0-4763-ACC4-328577CA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Key Deliverables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87CD2-A072-4B78-BA2E-B23891EB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9E7909-31ED-48BD-9509-6CA99BAA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10506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Migrated particle propagation, Twiss/covariance calculations, sampling, and physics utilities to torch.float64 while preserving the public APIs.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975C3-EFCE-475D-A737-DE46379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C7EBF-9F95-4B59-97DD-033E1BF4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0506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Integrated the PyTorch implementation through SimulatorBase and FELsimAdapter, connecting it to BeamEvolution, EvolutionPlotter, and the COSY backend.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630299-DB99-49B5-AEC9-67D63560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A6981-3E92-4CFD-83F4-265276FE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10506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Decoupled pointwise evaluation through evaluate(), enabling five optimizers, noise studies, close/far scans, Jacobian/Hessian calculations, and local-curvature analysis.</a:t>
            </a:r>
          </a:p>
        </p:txBody>
      </p:sp>
    </p:spTree>
    <p:extLst>
      <p:ext uri="{BB962C8B-B14F-4D97-AF65-F5344CB8AC3E}">
        <p14:creationId xmlns:p14="http://schemas.microsoft.com/office/powerpoint/2010/main" val="310885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18A54-7B9B-4C7B-8D0F-D7EB8EB4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FELSIM · WORK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BEB934-C4B8-4C9F-A964-E55BD16F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Scope and Evidence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A3297-128E-4848-827B-FF0106C1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Git history shows what changed; directory differences and outputs show current capabilities.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BF64E-1489-46CD-83F5-6BB0132A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1473E-C6BF-4582-B27D-F5C637EA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B6512-38D1-4F98-BCCD-0F05457E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9775"/>
            <a:ext cx="2552700" cy="1724025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02F6-06B6-4CFA-95EF-0286568E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9775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BA539-6F0F-4AD5-A4C1-53FE7D9F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backend ↔ backend_orig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DB6AA-4BD9-4773-BE49-B5BA549B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2209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Identify current semantic differences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and Tensor integration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B0C23-AA50-4C14-BB1E-0EB7BBF6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09775"/>
            <a:ext cx="2552700" cy="1724025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C896D-BF99-4EAF-9FA2-0C6D16A9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09775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D4EEA-2789-4D0A-A551-EB9AC65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812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experiment / step 1—4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59C9B-4352-43BC-896E-9D39648F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562225"/>
            <a:ext cx="2209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Reproduction, noise studies, random scans,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and second-order curvature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49E6A-88E5-4968-A472-B662A297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2552700" cy="1724025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B26DD-3C09-41A1-B1DA-9FDBEB87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9775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A6A50-8D47-4234-8D28-C0CDB92A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812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work_progress / 1—9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46C20-F2FC-49D4-8A33-9032DDF1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62225"/>
            <a:ext cx="2209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Trace tasks, decisions, and open items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by week and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B389C-84B5-4FEC-A086-6790D026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09775"/>
            <a:ext cx="2552700" cy="1724025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DCD92-6A41-4C5C-ADC7-F0FB027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09775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1B637-C3DD-4F7D-86B9-A0F15A0F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812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results / 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3B81A-1E31-4DFD-B512-F5901C31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62225"/>
            <a:ext cx="22098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Validate obtained data through PKLs,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figures, and notebooks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A8E8D-7C37-4789-B2E7-A1931D6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13919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A0D6FC-578F-4A8B-B644-2D7748B5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Baseline Caveat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FB5739-FE38-418E-B3D9-8B8BC6BE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backend_orig is not a fully frozen snapshot of the original code: the new architecture was synchronized into both backend and backend_orig on May 18. The final directory diff therefore captures only current direct differences; the full scope and attribution must be reconstructed from Git history.</a:t>
            </a:r>
          </a:p>
        </p:txBody>
      </p:sp>
    </p:spTree>
    <p:extLst>
      <p:ext uri="{BB962C8B-B14F-4D97-AF65-F5344CB8AC3E}">
        <p14:creationId xmlns:p14="http://schemas.microsoft.com/office/powerpoint/2010/main" val="1103226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6CD95A-7780-4541-88C0-96A68DA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FELSIM · WORK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2ED87-14EA-408E-8328-3484261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End-to-End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E41CC-F5EB-4AD3-8494-65C587FA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The backend stabilized by late June; July and August focused on research experiments and results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271293-4ED6-48B5-B649-2663870E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79D9-CD01-47AB-B942-CE4B6E37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7184E-E5BE-4399-846C-A67693A4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10363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7"/>
          </a:solidFill>
          <a:ln xmlns:a="http://schemas.openxmlformats.org/drawingml/2006/main" w="0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F0C18-9A35-49A3-BFA3-013A2358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6A05D-0A2F-49EA-9C73-72C927F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APR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7E64E-56EC-496D-AA7A-0A4E7D9D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533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Migrate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44AAF-43B4-4681-A253-8525731C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0050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Numerical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BE9F-0056-4984-9158-F64D838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173B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60F1-77EB-404C-98C7-164F5C6C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MAY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68190-7F02-4F26-9A56-5F73132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33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Unify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35234-4CA5-47F2-848E-9265F13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0050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Unified Simulator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and Dual Adapters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F86CE-8881-418A-92A6-A561B89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7D6C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F884A-0869-4292-9EBD-AD6F72DB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JUN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6E4010-B624-401E-8C29-ABF5472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33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Extend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2CE8E-B95E-4F9B-B00C-509F3F90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0050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evaluate / logMSE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noise / R26→R9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C49E0-FFDA-43D1-BE0B-DD660FC2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2AA8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22997-2083-4E03-928A-F9869AC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rPr>
              <a:t>JUL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CE9068-A4CB-4E3F-8AE9-23373A5E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533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Broaden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0331A-5AA1-4748-A2C5-104AEDAD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0050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 Variables × 3 Objectives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Close/Far Random Scans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06D0B-7601-48F7-92D2-969B5B3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81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0">
            <a:solidFill>
              <a:srgbClr val="E8645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E4195-885A-4CBA-B1BD-F209C8D5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14550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AUG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BCC80-B900-449C-9BCD-A0A67AD1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5336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Deepen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79A2C-825E-4D91-9341-0D79D98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00500"/>
            <a:ext cx="1752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Hessian / HGN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Eigenvalues &amp; Rank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6055D-8B88-40D6-BF79-FF9D3E0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3FDFD1-F5A5-4F61-91CF-9F80AE5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102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Key turning point: no backend source code changed after June 26, 2026, indicating that the architecture interfaces could support subsequent experiment-layer extensions.</a:t>
            </a:r>
          </a:p>
        </p:txBody>
      </p:sp>
    </p:spTree>
    <p:extLst>
      <p:ext uri="{BB962C8B-B14F-4D97-AF65-F5344CB8AC3E}">
        <p14:creationId xmlns:p14="http://schemas.microsoft.com/office/powerpoint/2010/main" val="4648802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C3CA5-DC99-45DA-9A93-EBAEEE6C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FELSIM · APRIL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21943-12F4-4DD8-8704-7C2070A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I: Migrate the Numerical Core to Tensors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FA0B0-0D87-45D9-8E35-356104EF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First establish a runnable, verifiable PyTorch implementation; then provide stable low-level interfaces for architecture integration.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6EA0D-EF40-4A20-A230-B496D4C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BEFE4-0FA8-4B45-B3DD-85E7B0E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04.01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DB2E-78A3-4A1E-860B-7FBBCA0C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Repository Mapping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and Environment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FB559-8C26-4F3D-850E-0E49B0B4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04.03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7BF12-46FF-441E-9A63-ED47F31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Core-Module Conversion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and File-by-File Debugging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7F22D-3F70-4757-A6DB-3A42E2EA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04.22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12202-30E8-443B-BAFD-830A4C9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float64 / Relativistic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Boundary Cleanup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47912-8C0D-445C-8F6F-8D92C0E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70306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7576A-B731-4BB7-8706-621C39F5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APRIL · CODE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87EB4-2A5D-4D78-82C9-B96B244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April: Detailed Code-Migration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3E78-2FFC-49C9-B73A-43A83BB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Each commit corresponds to a verifiable engineering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1B2B9-F85B-4ED9-ADAB-2F63FF13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527E9-CB3A-4DC5-9031-CD99CD79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847850"/>
          <a:ext xmlns:a="http://schemas.openxmlformats.org/drawingml/2006/main" cx="113919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9300"/>
                <a:gridCol w="2143125"/>
                <a:gridCol w="7229475"/>
              </a:tblGrid>
              <a:tr h="65881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Date / Commit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Outcome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04.01 · 5f76cb0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Understand the baseline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Mapped backend responsibilities and recorded the first tasks and dependencies.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04.03 · 3695a99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 Tensor conversion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beamline / ebeam / beamUtility / radiation / schematic; about +474 / -315.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04.03 · 73d1785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 transport details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Tensorized position accumulation, interpolation, fringe fields, and relativistic parameters; added backend_orig.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04.03 · e38e7bc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Debug and equivalence tests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Fixed dtype issues, Tensor-to-NumPy plotting, test paths, and platform differences.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658813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04.22 · 96ae968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Boundary cleanup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Switched the beta calculation to torch.sqrt and removed debug code.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6532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D0DAF-4DB8-4728-AF3C-3B19F110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APRIL · NUMERICAL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90601-79F1-4015-95AF-58DCAEC5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Modules Covered by the PyTorch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2D245-CEAE-4378-BF9E-2F8DDDB7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The numerical core now uses Tensors consistently, while NumPy, Pandas, and Matplotlib remain at compatibility boundaries.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FE2F3-E0B0-4BDA-B931-2D22DA8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714F1-1539-4A19-9606-CB59BB3A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43175"/>
                <a:gridCol w="4000500"/>
                <a:gridCol w="3038475"/>
              </a:tblGrid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 pattern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Improved implementation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Architectural role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beamline.py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Per-particle loops + np.matmul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Batched torch.matmul; cumsum positions; Tensor fringe fields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transport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ebeam.py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NumPy statistics and sampling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Vectorized mean / covariance / Twiss / Gaussian sampling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Statistics and objectives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beamUtility.py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Nested grids and profile calculations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4D broadcasting; Tensor charge / deposition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Physics utilities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radiation.py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NumPy angular distributions and histograms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 energy grids, trigonometry, and histograms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Radiation layer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schematic.py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Column-wise transforms and min/max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Vectorized drift transforms and boundary statistics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Visualization preprocessing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59599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beamOptimizer.py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Optimization and evaluation coupled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float64, evaluate, jac/options, logMSE, noise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Reusable experiment entry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2590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B5487-A0EA-4566-8949-88C1FF0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APRIL · BEAMLINE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F3F64-01BC-4272-9BF2-C7E97BF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Core Improvement 1: Batched Beamline Propagation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26EA8-382A-47C7-B61E-5A54A55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Replaced particle loops with batched matrix operations while preserving the public useMatrice() entry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F9510-EF44-4134-86CA-680762B2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DC41E-9AD4-4426-916C-517DC13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6BEB8-6847-4048-8E90-9FA87A8C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8387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1D7E5-8093-4B65-B56F-155E687D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83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4"/>
          </a:solidFill>
          <a:ln xmlns:a="http://schemas.openxmlformats.org/drawingml/2006/main" w="0">
            <a:solidFill>
              <a:srgbClr val="7B879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6BF9C-9FCC-4B1F-A9F4-7E90782D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Before · NumPy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45978-7CB9-4958-BBB5-3D42343F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14600"/>
            <a:ext cx="4495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for particle in particles: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    out = np.matmul(M, particle)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Python-level loop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Each particle computed separately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Checkpoints difficult to standardize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61DEA-49BB-41E7-81D4-7C504B61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483870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1E6707-C702-4403-8849-9E8A2AA1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4838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92F26-5939-480E-B6DD-AE195A0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After · PyTorch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97CEC-3468-44B7-A818-81C779E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44958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particles = torch.matmul(M, particles.T).T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One batched matrix multiplication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Element matrices standardized as float64 Tensors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torch.cumsum tracks longitudinal positions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Tensorized fringe-field interpolation and reconstruction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34182-D4C1-4436-86D0-912D956F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11620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ECF59-313B-4E62-B2EA-088C95F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763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DD402-8293-4A5B-A817-9B9C8BBF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5721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Architectural value: beamPropagator and FELsimAdapter retain the same public interface, so migration changes do not propagate upward.</a:t>
            </a:r>
          </a:p>
        </p:txBody>
      </p:sp>
    </p:spTree>
    <p:extLst>
      <p:ext uri="{BB962C8B-B14F-4D97-AF65-F5344CB8AC3E}">
        <p14:creationId xmlns:p14="http://schemas.microsoft.com/office/powerpoint/2010/main" val="1309756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F590A2-6575-4C65-B8C7-EF5DB652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APRIL · EBEAM / UTILITIES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79A72-08D4-4DDF-8908-DCDF5A6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Core Improvement 2: Beam Metrics &amp;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B7EB7-31D7-453C-A412-8D908298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Standardized repeatedly evaluated optimization statistics as Tensor operations.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EF63A-4CD5-428D-9324-4D3CB071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A41A9-53E9-4307-9A8B-79048307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4D378-1900-4020-9AEE-A7983CFB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9694A-81AD-4F0E-AE2F-FDC68029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7885D-AA15-4975-81A3-45A1E161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Twiss / covariance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C1581-548A-4438-A46B-41410FBE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Mean, covariance, and dispersion correction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Vectorized α / β / 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3D644-C945-4033-94EA-1D73BFDB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DF115-E4C1-43F2-80AB-488229C3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FAA51-A6B5-43D6-9C68-CAF6E644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Particle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C399A-677D-42CC-BA12-481DFE1A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7650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Twiss-Based 6D Gaussian Sampling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Device and float64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50334-4038-4E4C-B416-43F4FAA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F45DA4-5693-4281-9223-9BB0EB7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CEF039-C006-4781-AD32-BCE6FAB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Ellipse / envelope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F8470-303D-4A5C-A136-84C64C23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Tensorized X / Y / Z Ellipse Tests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and Envelope Calculations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8068D-927E-468D-B259-8FB4F8D9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9A318-9358-492A-9305-DF66CCF8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3F616-3716-43E5-9015-52B369E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Power / deposition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11C8C-616A-4A7D-8FAC-64AF4CBC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4D Power-Grid Broadcasting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Charge and Deposition Profiles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3C718-FF80-48B9-A3F3-1B913316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000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31750-B85F-46CA-A938-1243ED6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1000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C85F0E-4826-4A81-85F0-0D0890C4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8145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Radiation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9C634-A9CC-42D7-9F7D-C3ACC71C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36245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ICS Angular Distributions and Spectrum Grids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Histograms and Normalization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C2BB8-ABF2-41ED-93B7-6BF9277E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57187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A59E7-6214-4E0A-8E15-1E421FBB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000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352D7-452C-4350-A0C1-6A1CFE68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8145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Plot 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44882-E9D6-4C29-A651-6D227620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62450"/>
            <a:ext cx="32289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Convert to NumPy Only at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DataFrame / Matplotlib Boundaries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D1BCC-AEA4-48E0-9044-A1E63BE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FA4B5E-B906-47B0-B719-CC721D21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9775"/>
            <a:ext cx="1095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Unified precision: from June 8, 2026, torch.float64 became the default across the research workflow.</a:t>
            </a:r>
          </a:p>
        </p:txBody>
      </p:sp>
    </p:spTree>
    <p:extLst>
      <p:ext uri="{BB962C8B-B14F-4D97-AF65-F5344CB8AC3E}">
        <p14:creationId xmlns:p14="http://schemas.microsoft.com/office/powerpoint/2010/main" val="13134558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461F7A-1626-428F-9166-945FB5C7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APRIL ·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B03C6-FADD-4F00-B71E-ABA34A65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Equivalence Verification after Migration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58E68-FC5E-463A-A891-EC32674C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Key functions were first checked against the original implementation, followed by optimization results as system-level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89E32-FA72-4FBF-BA4C-AA38302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C92FE-4E01-461F-8ABD-3BB278B1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9CFF3-5533-4B55-A84C-303CFA28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19C5C-7A40-4227-A91F-9A1EA4D5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04F35-A239-42D0-AB25-22369DD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ebeam · ellipse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012BB-7DBC-4F5D-8C89-E7F7D06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X / Y / Z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allclose =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B39B9-0884-4879-9E93-3728048B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CE9BB-0B53-444A-931F-E22D0617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BC09CA-3960-4A27-95A7-1DE5D894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ebeam · cal_twiss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CAEE-03A2-49FA-8DC1-BF573A25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76500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mean / cov / Twiss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allclose = 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B94CB-F533-4F78-AAE1-FF1C9142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A26A5-5507-4EE0-B884-869472C6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08B2E-71A4-4DAE-9A78-BBF24D27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beamline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BE83B-3071-47DC-853E-67BEA40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76500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interpolation / reconfigure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True /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01954-309F-4073-A4AA-EAA9B06E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491905-01EF-451A-A4D7-C7B668A4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2C594-EDC2-4512-9A5C-8C6FF933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schematic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85242-C373-4996-B7FB-23CB16E0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drift / min-max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True / 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20B94-5E7A-4FEA-A831-337C5F63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05225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9E801-C2B6-4F0B-9B46-52635D5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052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33417-AF1A-4056-BAED-BE525D3B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7667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beamUtility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C21BB-1DC3-41E4-9AA0-4D0C7565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257675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Bethe close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profile True / True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F98D4-C64B-41CC-8972-B4D661A3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5225"/>
            <a:ext cx="3571875" cy="145732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2CBE7-0B80-47F2-A358-DE6E9CA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052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0283F-CF7B-41F5-B9D4-78A023AE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7667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System-Level Optimization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2CEA8-0C29-42C1-A1F6-AFBEF72D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57675"/>
            <a:ext cx="3228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Saved PyTorch Results as PDF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for Residual and Iteration Comparisons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FD0765-30C1-477B-8EB4-5C04C37F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D0403D-4E5A-49C8-B068-D8CD2777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rPr>
              <a:t>Validation remains primarily notebook- and script-based; an automated pytest regression suite is the next engineering step.</a:t>
            </a:r>
          </a:p>
        </p:txBody>
      </p:sp>
    </p:spTree>
    <p:extLst>
      <p:ext uri="{BB962C8B-B14F-4D97-AF65-F5344CB8AC3E}">
        <p14:creationId xmlns:p14="http://schemas.microsoft.com/office/powerpoint/2010/main" val="4654938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81704-5EFC-4B53-BEF8-DF9A5646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FELSIM · MAY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94DFC-1728-477F-99D2-93B6C364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II: Integrate the Tensor Core into the Unified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15E34-C44A-4DCA-B03D-5F7B3425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In May, the focus shifted from runnable functions to coexistence, shared outputs, and reusable experiments.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557C1-5522-42E0-AA6C-159D0C52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007B1-FAFE-4700-9CB1-4433AC8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05.18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E2D3E-B49E-41E6-AA17-8CCA71EB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Integrate SimulatorBase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with the FELsim/COSY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C9813-61AF-4429-805B-76C86F22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05.19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47413-E683-4B6C-9614-376D75E8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Add NumPy Baselines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and Correct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EBFD1-6325-4159-B5E4-E4F933D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05.29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C08A6-8FB8-485A-8D1E-D4F9A94F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Scenario 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Five-Optimizer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C4783-8CFE-480A-BFF0-472F8CD8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96578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D74D0-A084-49BF-B7A9-81BE961E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ARCHITECTURE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D1A7F-0DAF-4DFC-BDD3-06A748A9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May: Largest Architecture-Integration Commit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C2A86-3A4F-4DCA-B0B0-FCBD7F1F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Commit 2c71c2a synchronized the upstream architecture and completed PyTorch bridging, unit correction, and results-layer adaptation.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818DE-9AEE-4EE6-B1A4-7A119CB6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05A41-FEAB-43B0-98F0-4D2FAD71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39091-9AB0-4768-80B2-D99E9CF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09B1E-B7EF-422A-8AF4-270D9617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02E7B-CA13-4B66-8589-33290EF5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35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CB57F-E451-4EAF-80B5-984B7A39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765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Files Changed under backend/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CECA6-D04B-4EF8-94EC-1C097129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~+10,980 / −367 (including upstream synchronization)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5271A-3E40-4251-8A28-2EA86A7B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2D013-35B2-4020-A8DF-566E4C3C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9213F-C3DB-478E-BFB1-2B7DD69D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431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D9B17-6C25-446B-8D6C-5404C33C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New Architecture Components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30DBC-E031-4A75-B049-0F73E0FB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813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Simulator / Adapter / COSY / Evolution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A971E-B62C-432B-94F4-D4C6AE64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F547F-6227-4C09-BC17-644450BD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CEFD6-C82A-4FB8-B3E9-1C56B0EE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431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2 backends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13375-29E0-4963-B08E-AA7CB04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765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Unified Output Protocol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2A285-54C0-4BC3-8355-8102A098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813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Parallel FELsim and COSY Backends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E320C-8867-4BA6-B933-0C2B554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1139190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C4B1E-DA40-48DE-934E-5F68BC0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67175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Accurate Attribution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D8B0A-E560-4BBC-9722-BBB12EAD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95800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The upstream nginx branch provided the unified simulator/COSY foundation. My contribution was to synchronize it into this branch; connect the PyTorch core through FELsimAdapter, beamPropagator, BeamEvolution, plotting, and optimization; and extend validation, outputs, and subsequent experiments.</a:t>
            </a:r>
          </a:p>
        </p:txBody>
      </p:sp>
    </p:spTree>
    <p:extLst>
      <p:ext uri="{BB962C8B-B14F-4D97-AF65-F5344CB8AC3E}">
        <p14:creationId xmlns:p14="http://schemas.microsoft.com/office/powerpoint/2010/main" val="5872982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6E6D5F-400F-44A1-90DE-AA8DEC9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7857-07EB-4C02-B9FD-FF261DAA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Two Backends, One Unified Results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2962C-3990-4C8A-93F3-87E51554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Adapters isolate backends; BeamEvolution unifies particle, Twiss, and element metadata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0ACD9-1770-4C27-8DC9-CF08422E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070E3-63F4-46A8-B056-874A2855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B533B-3971-4BEA-ACDD-F85DF94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86025"/>
            <a:ext cx="904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6D400-3117-4A85-B619-5E217B2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860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61A05-38EC-4254-8D50-B996A49E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1B2D6-E842-432B-A54E-66DE80A1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05225"/>
            <a:ext cx="800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B247B-26C2-4EEF-A151-1B84FED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838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2EACE-1ECA-44EB-88BA-6675627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9775"/>
            <a:ext cx="1466850" cy="111442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DBB0-8CC0-40A9-A253-E9EEDD29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9775"/>
            <a:ext cx="1466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4"/>
          </a:solidFill>
          <a:ln xmlns:a="http://schemas.openxmlformats.org/drawingml/2006/main" w="0">
            <a:solidFill>
              <a:srgbClr val="7B87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B9C48-F271-43C1-83E2-1758180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12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8ED17-BDA7-4BDE-BBEB-ADDA7790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123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Excel / JSON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lattice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5AA9F-4AA5-4A11-B3E7-31869F0B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9775"/>
            <a:ext cx="1714500" cy="111442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A8331-6E6A-48E0-BF02-3CE8AED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9775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B202F-4568-4C0B-A248-0FA4233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81225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Builder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9BF89-83DD-49F9-9D29-864F926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1371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latticeLoader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BeamlineBuilder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09A19-E83F-4256-9E58-D10FBEC4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9775"/>
            <a:ext cx="1562100" cy="1114425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1061C-1439-455F-AF5C-A41E76BA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9775"/>
            <a:ext cx="1562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EDF7DD-EEF2-47FB-BD4B-0E3B76DF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8122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Simulator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EFDF1-70B0-4456-BB83-5722950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62225"/>
            <a:ext cx="1219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Unified simulate /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optimize contract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29DD53-6BE8-48F4-8E59-CC4EA308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1771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8A7E44-96DE-4BD7-AF78-A6E8386C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C1142B-F5B3-4620-BB58-43D616C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FELsimAdapter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A021C-AD95-477E-99C7-DB1530A2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beamPropagator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+ Tensor 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2C9895-5D0A-4DE6-85E2-A5FEF5D8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7716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98F49-0DC6-4C6F-BC4A-F568B0D4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771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4450ED-5BC9-49A4-BCD3-CB0C2072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52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COSYAdapter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E6DBB-A585-4E91-9E9C-BC13926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33800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COSYSimulator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+ ResultsReader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B4C51-A60E-4DE2-BB0E-38F3EA34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15240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1784A-9803-468A-8601-C09921C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419350"/>
            <a:ext cx="1524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238D77-A083-4F0B-A484-257A6EB2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9080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Unified result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A804D-69A3-4337-BF48-C10FB146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71800"/>
            <a:ext cx="1181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Simulation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BeamEvolution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EvolutionPlotter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B59FD-5313-45DA-8957-C929F886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66484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5E632F-9CA8-4C27-B504-BA7FE722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05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Key design: preserve FELSim's public API and integrate through adapters instead of rewriting the full call stack.</a:t>
            </a:r>
          </a:p>
        </p:txBody>
      </p:sp>
    </p:spTree>
    <p:extLst>
      <p:ext uri="{BB962C8B-B14F-4D97-AF65-F5344CB8AC3E}">
        <p14:creationId xmlns:p14="http://schemas.microsoft.com/office/powerpoint/2010/main" val="8811948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EC9DF4-5712-4242-9AB9-2F45C428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DE76B-0FFF-41DB-A7E2-7984C6FA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How Improved Code Enters the New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94B53-36CE-46C3-8125-563BF857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Keep the numerical core in tensors; convert only at result and visualization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5DF71-2F84-48DE-ADEA-931837D0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4C5BE-8310-4809-ABF6-6E85D984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93E9-F1E3-4792-80A3-9DA35B0C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813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5E581-FBF0-404F-A3D5-C16FE4B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813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A37B0-F539-42BA-9BF2-93E2EEB6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813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E7D31-2645-41AF-A121-718D5E2D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EB1C4-11E9-4EB7-A42C-BC8FCB1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813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A5139-E9EE-40BE-8108-2C6BE6B7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381D2-512F-4329-BA97-F398188F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5701F-ABF3-4DBA-BBDD-285DBF03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Particles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Tensor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A86FB-277A-4152-BE45-7B8761B8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float64 /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F46F4-B2F0-4C83-B1CE-3D5A375F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A7B92-1932-4C9E-8DB2-0D549A8F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649AA-06D8-4889-AE6F-8E4CBDA6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useMatrice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025FD-09E0-451C-94D2-7629451D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Batched torch.matmul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2934B6-2A17-4467-AD04-0CE4E2BC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E4750A-5102-4B95-BC83-239FC4C4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7A5CB-DB9F-4899-A1D1-579AD00E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EAF2A-F3F2-4509-84E6-77B667AD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clone() preserves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boundary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8EC17-A8CB-453B-A236-923395C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4F198E-F22D-4BE8-B881-EA49CB36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71F41E-B99C-431F-90FE-88333DF7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cal_twiss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81DFD-D10D-4E82-BBCD-B1383026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Vectorized statistics /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objectives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CC48F8-143F-4AEB-BEA6-2E5EBD88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5F2E5-16C1-4DC1-BED8-19044996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98ABE-39D2-4F24-8957-BD4013E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BeamEvolution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73C34A-57B3-40D8-B9BD-37D818D3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Particles + Twiss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+ metadata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9AE81-ADF0-4E6C-AFF6-80F84117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714500" cy="185737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B711F8-2C84-4AE5-A45F-E0801522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0A1D83-8D58-47C1-8CB8-FC8EEE22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Outputs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027711-6ADB-4556-940B-8E0DAFAA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13716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NumPy / Pandas / plots / API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B5D87-36B0-4610-84B3-05C3271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11391900" cy="1133475"/>
          </a:xfrm>
          <a:prstGeom xmlns:a="http://schemas.openxmlformats.org/drawingml/2006/main" prst="roundRect">
            <a:avLst>
              <a:gd name="adj" fmla="val 100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AAC467-B728-40C5-9340-AEB55B3F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485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Boundary Rule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481890-8D6D-4945-88A0-5D00F7B9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768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Use tensors internally for batching and differentiation; convert only at DataFrame, Matplotlib, SciPy, and API boundaries.</a:t>
            </a:r>
          </a:p>
        </p:txBody>
      </p:sp>
    </p:spTree>
    <p:extLst>
      <p:ext uri="{BB962C8B-B14F-4D97-AF65-F5344CB8AC3E}">
        <p14:creationId xmlns:p14="http://schemas.microsoft.com/office/powerpoint/2010/main" val="1978034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919EC1-605A-45E0-A6E7-EF89CFE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JUNE · OPTIMIZER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1532B-2471-46F7-9214-ACC9640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Optimizer Evolution: Black Box → Evaluation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E475D-8C13-4D7A-AF43-E81ECBE5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June interface changes created one entry point for experiment Steps 1–4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BB11D-518E-488A-969D-DD95F84D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F747C-BFDC-423C-8651-AFD1140D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862CF-A2A1-44D2-9635-C4744CF5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1813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364A7-C27F-4FDE-83A6-ECD88F8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B8D6F-9679-4CAC-BF10-C511DD9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813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326DE-DA52-405A-B395-198E2B2D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4953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9B6FA-D9AA-441D-A2BE-5E71B591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9716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D9567-BE62-43BE-89D5-F56FA87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4"/>
          </a:solidFill>
          <a:ln xmlns:a="http://schemas.openxmlformats.org/drawingml/2006/main" w="0">
            <a:solidFill>
              <a:srgbClr val="7B879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22760-4E25-49BC-A31A-4C9E8BE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calc()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81292-DCBA-4608-A307-145B554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Original optimizer entry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4504C-A409-4D82-8968-C0F5A7B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00300"/>
            <a:ext cx="19716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F8185-E965-402F-A937-22EF3061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003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706E3-2021-4C54-8076-4E26B472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_prepare()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BEF6B-1157-4778-8C07-09B11BDC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Unified variables / objectives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71364-DB5E-4EE4-B6E6-13E9161D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19716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4CADA-BDC0-4024-8734-483BB361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AAF42-50D1-4BD7-B38C-41CC9A1A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evaluate()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A12F0-86B2-48EA-8E47-326D0202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Independent pointwise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C3D122-DE01-48B7-9A19-DD1BA338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0300"/>
            <a:ext cx="19716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2BA970-FCAF-4B19-A16D-50699A3E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4003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470365-22D8-475B-A473-93A75EF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5717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jac / options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0B09F-A10A-4E51-943D-E1E2F5E4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952750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Supports first- / second-order methods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14D196-1CB8-4123-9DA1-864950B7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97167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869FE1-8F40-4615-9334-89963F3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971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D37B8-0A78-47F4-B958-8ACF0FA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noise / 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EC84B6-3433-403D-A282-EFC9DC2E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52750"/>
            <a:ext cx="1628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Study perturbations and scaling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BC9E2E-32C7-4C8E-8D67-4924ED86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11391900" cy="1247775"/>
          </a:xfrm>
          <a:prstGeom xmlns:a="http://schemas.openxmlformats.org/drawingml/2006/main" prst="roundRect">
            <a:avLst>
              <a:gd name="adj" fmla="val 916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68C28C-4A85-4E00-BA67-0A40E1AE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482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Reusable 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971B52-9651-41F8-8EC5-180E9F6C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706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Landscape grids · optimization trajectories · Gaussian noise · close/far random scans · Jacobian · Hessian · Gauss–Newton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7304464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96D67-7F3B-4463-A543-E0CF44AA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ADAPTER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85548-9C2C-4337-A705-24F1145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COSY Integration: Bridge and Unified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471E9-F1C2-4F12-BD7A-DCC0972E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Keep index and variable differences inside helpers and adapters, not the experiment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F51A9-C20F-44E6-8F75-389B65E6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6FA6E-E136-4512-BCD6-9ADA314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2232-369C-4C68-A7DA-E58A2D54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3381375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F9E88-D6DB-43A6-BD60-1A8B4CE7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716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D412B-EFB6-4310-AA75-A2A43782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3038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cosyOptHelper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3D37E-8410-460F-85A7-5F39DFC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24125"/>
            <a:ext cx="30384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Parse FELsim Excel element indices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Map stages to COSY FIT blocks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Map symmetric variables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Read back optimized currents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Resolves naming and indexing differences for the same physical variable across backends.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00D9D-88DE-43FB-BF8C-B7C294D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3381375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B6C08-E3AA-41B5-B8FB-456A90E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716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46B10-C7FF-46DE-B4B2-DEB492F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43125"/>
            <a:ext cx="3038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FELsimAdapter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9D9E0-C561-4990-908A-216A7EC1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24125"/>
            <a:ext cx="30384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Wrap the existing beamline / optimizer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Tensor particles → checkpoints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collect_evolution()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Convert dispersion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Implements the SimulatorBase contract without a full backend rewrite.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6CAB9-018D-4739-8022-7C11A035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71675"/>
            <a:ext cx="3381375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B981F-6E86-41A8-ADB8-5DE8828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9716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16566-FFD9-41A1-BDB4-153D095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43125"/>
            <a:ext cx="3038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BeamEvolution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B3B5B-6828-4255-99C3-C794894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24125"/>
            <a:ext cx="30384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Store evolution by longitudinal position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Particles / Twiss / element metadata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Unified across FELsim / COSY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Consumed by EvolutionPlotter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Separates propagation, result storage, and plotting.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4F763-8C63-479C-8BBC-4D36B56C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343525"/>
            <a:ext cx="85915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1844D-2BAA-405B-9FF8-1AF2E82C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14975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The experiment layer uses only the unified interface: switching simulators does not require duplicating downstream analysis.</a:t>
            </a:r>
          </a:p>
        </p:txBody>
      </p:sp>
    </p:spTree>
    <p:extLst>
      <p:ext uri="{BB962C8B-B14F-4D97-AF65-F5344CB8AC3E}">
        <p14:creationId xmlns:p14="http://schemas.microsoft.com/office/powerpoint/2010/main" val="11354002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212DC-7AA8-484D-8F5F-B73BC96A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MAY ·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6233F-2CC4-4838-A075-1563ECBE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Performance: End-to-End Gains Are Uneven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7C574-774F-46C8-9D82-650AE9FF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Report total scenario time, key stages, and caveats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9E67A-C254-4565-AB86-368C9424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C78F0-996B-4001-BE3E-7BFC146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4E802-5341-4F78-8E77-A4078A0A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68580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66750" y="2095500"/>
          <a:ext xmlns:a="http://schemas.openxmlformats.org/drawingml/2006/main" cx="6334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859b91d00c4dd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0CE476-2C25-4FC5-A89C-6B153EEE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1455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1.46×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BF535-CC2F-4CA7-A174-3022DD07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Scenario B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~31% lower total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F19DD-A6E7-42D3-AE65-631669ED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19475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4.25×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F1ABD-3AF1-4FDF-AD60-99BFD733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Quadrupole Triplet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480.85s vs 2045.76s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F6306-383D-47A0-9186-49DB2EB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420052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A9BC9-5309-4CAB-8447-2B6E4224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339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Caveats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471A2-6326-4BED-A17E-346B6AAC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19700"/>
            <a:ext cx="3733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Short stages can be slower. Scenario C is excluded due to likely NumPy non-convergence.</a:t>
            </a:r>
          </a:p>
        </p:txBody>
      </p:sp>
    </p:spTree>
    <p:extLst>
      <p:ext uri="{BB962C8B-B14F-4D97-AF65-F5344CB8AC3E}">
        <p14:creationId xmlns:p14="http://schemas.microsoft.com/office/powerpoint/2010/main" val="19046869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8B621-C49B-42D3-A1F6-9E3C690F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EXPERIMENT ·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F5B1B-B79E-434F-901E-776EA7D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Architecture to Research: Experiment Steps 1–4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D315B-B952-45E5-A80B-790859A8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 shared evaluate() interface supports optimizers, noise, sensitivity, and curvature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94C6-1994-4393-93FB-947FC07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B8615-351D-4956-8FB2-BF98E635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EA965-D676-45D6-B65A-8D46273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552700" cy="2743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F345D-8646-4830-A8F7-FA2C73B3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154AC-96B2-46D7-9021-CE394FCE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1 · Reproduction and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06198-EE33-491D-8CCF-8CE185D6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2209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5 optimizers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landscape / trajectories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CA790-BAFA-426C-9175-9745262F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1470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1C545-8900-469C-A24B-9B5CCBF6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76450"/>
            <a:ext cx="2552700" cy="2743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091C9-7D45-4DA6-9D4B-6D18AEA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7645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6D2AF-8246-4274-A72A-2E5F1D9F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479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2 · Stability and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CD581-84FE-40C4-B50F-F84DD97B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209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logMSE / noise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R26→R9 / derivative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2930B3-A9EF-4410-A11C-A9638153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1470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D2B06-D9F5-4EB0-94BC-CBF9CDD5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52700" cy="2743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1B421-7837-4ACF-9F9D-F7F4A0C4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BBA8C-4A8A-4753-9363-C9A3BCE7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3 · Problem Generalization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F84758-34DE-47F3-954F-8C8036F6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28900"/>
            <a:ext cx="2209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3 variables × 3 objectives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close / far sampling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1B3F5-13A8-44A8-A89B-C5DD495E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14700"/>
            <a:ext cx="2571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8240D-36C3-4948-9B0E-7908FC12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76450"/>
            <a:ext cx="2552700" cy="27432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B43BC-9EAA-416D-AD0D-219B0128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76450"/>
            <a:ext cx="25527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FF068F-42C4-46EA-A399-C5B057B9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2479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4 · Second-Order 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96D567-36A5-473E-BD73-0065128B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28900"/>
            <a:ext cx="2209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Hessian / HGN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rank / eigenvectors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111DAD-15E6-49D4-ADBA-3D7A7E44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733425"/>
          </a:xfrm>
          <a:prstGeom xmlns:a="http://schemas.openxmlformats.org/drawingml/2006/main" prst="roundRect">
            <a:avLst>
              <a:gd name="adj" fmla="val 1558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0CDBD-FF43-48F4-8E5F-A43E6FCF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Research sequence: establish reproducibility → identify algorithmic differences → add noise and scaling pressure → interpret local geometry.</a:t>
            </a:r>
          </a:p>
        </p:txBody>
      </p:sp>
    </p:spTree>
    <p:extLst>
      <p:ext uri="{BB962C8B-B14F-4D97-AF65-F5344CB8AC3E}">
        <p14:creationId xmlns:p14="http://schemas.microsoft.com/office/powerpoint/2010/main" val="2035461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A7D35-2EDF-49F6-8C97-C8A51E48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1 ·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64226-C402-43FB-B375-260E7999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1: A Reproducible Scenario A Benchmark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6723F-0B13-4A26-804F-6B700117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Fix the physics, variables, and targets before comparing algorithms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41ABA-7898-4100-B8FA-61DB0AD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E513E-0EB4-4BEA-A6D1-773098C0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CF2A1-572E-4B5F-BC8E-C6372069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5BDFA-D749-4A2D-A51F-90E10E3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51607-BA0F-4B5C-88D4-E962EB53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40 MeV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B25971-C208-49F7-80E7-34A7059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Electron-Beam Energy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D177B-C290-4577-8EC9-719A07ED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1000 particles per forward 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376D4-0798-402D-8CF4-95BFBD8A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7382D-505F-45C7-B5A2-2477583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7DBCC-1D8D-4BBA-A744-DE35AF99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2 →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50AEB4-43F8-4ABF-B1AD-6CA5A6B2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Variables and Objectives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CF3A40-00F3-455F-8409-4F26A4B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I1, I3 → αx, αy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E5FB9-E56E-409E-8662-4EE7923A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D32C7C-08AA-426D-A7F2-5D47626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15DF1-39FB-4349-87A3-D0E88209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0.01—1.5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46AA9-68FB-41CF-BD5C-0C2B832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Variable Bounds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FCD93-D264-457C-A3B7-38FEE41F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26-current reference configuration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068D45-AA3C-4C7F-83DB-A031F16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391900" cy="1933575"/>
          </a:xfrm>
          <a:prstGeom xmlns:a="http://schemas.openxmlformats.org/drawingml/2006/main" prst="roundRect">
            <a:avLst>
              <a:gd name="adj" fmla="val 59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22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C6DED-6AC5-4403-87E1-CBBD30A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Common Benchmark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9FE52-EA04-4540-A430-C20543F0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437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054DC-F773-4E9E-8D58-26E46363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Nelder–Mead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877E43-A317-4D8A-97FF-9D54560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2437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55A88-A281-4C97-B7F9-FB5E2656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L-BFGS-B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C9ED25-EA31-49B1-8D0B-6EF30072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F14A0F-9D63-4B65-A0C8-3F99C296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SLSQP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EE53D-6FB7-4039-B3B5-113C0673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2437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2B42EE-20D5-401D-B682-C5DC9978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COBYLA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1AC7BA-D727-44CC-818C-5E92BED4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2437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D818E-F02B-4E8B-852B-64A0135E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72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trust-constr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505312-69BE-4529-95C7-ABFA969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Current PKL: 100×5 = 500 runs; archived v4 PDF: 1,000×5 = 5,000 runs (~23.8 h); plus 50 trajectories and a 500×500 landscape.</a:t>
            </a:r>
          </a:p>
        </p:txBody>
      </p:sp>
    </p:spTree>
    <p:extLst>
      <p:ext uri="{BB962C8B-B14F-4D97-AF65-F5344CB8AC3E}">
        <p14:creationId xmlns:p14="http://schemas.microsoft.com/office/powerpoint/2010/main" val="16897026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53337-625A-473C-A955-AEB2BF0D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1 · OPTIMIZER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4C8DA-A68E-4869-87BE-E1F40B2E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1 Results: Speed–Accuracy–Basin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61A1A-D4C8-4CE3-AEA8-5785627B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Zero noise; 100 random starts per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252D9-B2C2-4AE6-A388-E64E8EB9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98E7B-1B6D-4EE0-B3F6-3E6426A0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20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00050" y="1828800"/>
          <a:ext xmlns:a="http://schemas.openxmlformats.org/drawingml/2006/main" cx="7810500" cy="3914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143000"/>
                <a:gridCol w="1381125"/>
                <a:gridCol w="1809750"/>
                <a:gridCol w="1714500"/>
              </a:tblGrid>
              <a:tr h="6524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Method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Convergence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Mean time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Geometric mean MSE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Observation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COBYLA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35.26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1.24e-4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Robust, lower accuracy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L-BFGS-B</a:t>
                      </a:r>
                    </a:p>
                  </a:txBody>
                  <a:tcPr marL="95250" marR="76200" marT="66675" marB="57150"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5250" marR="76200" marT="66675" marB="57150"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10.41 s</a:t>
                      </a:r>
                    </a:p>
                  </a:txBody>
                  <a:tcPr marL="95250" marR="76200" marT="66675" marB="57150"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9.71e-13</a:t>
                      </a:r>
                    </a:p>
                  </a:txBody>
                  <a:tcPr marL="95250" marR="76200" marT="66675" marB="57150" anchor="ctr">
                    <a:solidFill>
                      <a:srgbClr val="EAF5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 accuracy and fast</a:t>
                      </a:r>
                    </a:p>
                  </a:txBody>
                  <a:tcPr marL="95250" marR="76200" marT="66675" marB="57150" anchor="ctr">
                    <a:solidFill>
                      <a:srgbClr val="EAF5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Nelder–Mead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99%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15.31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1.30e-8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Derivative-free baseline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SLSQP</a:t>
                      </a:r>
                    </a:p>
                  </a:txBody>
                  <a:tcPr marL="95250" marR="76200" marT="66675" marB="57150" anchor="ctr">
                    <a:solidFill>
                      <a:srgbClr val="ED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5250" marR="76200" marT="66675" marB="57150" anchor="ctr">
                    <a:solidFill>
                      <a:srgbClr val="ED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7.13 s</a:t>
                      </a:r>
                    </a:p>
                  </a:txBody>
                  <a:tcPr marL="95250" marR="76200" marT="66675" marB="57150" anchor="ctr">
                    <a:solidFill>
                      <a:srgbClr val="ED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3.63e-8</a:t>
                      </a:r>
                    </a:p>
                  </a:txBody>
                  <a:tcPr marL="95250" marR="76200" marT="66675" marB="57150" anchor="ctr">
                    <a:solidFill>
                      <a:srgbClr val="EDF9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Fastest on average</a:t>
                      </a:r>
                    </a:p>
                  </a:txBody>
                  <a:tcPr marL="95250" marR="76200" marT="66675" marB="57150" anchor="ctr">
                    <a:solidFill>
                      <a:srgbClr val="EDF9F3"/>
                    </a:solidFill>
                  </a:tcPr>
                </a:tc>
              </a:tr>
              <a:tr h="65246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trust-constr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34.02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3.12e-13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Lowest error scale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2D8C8-DC10-4920-91AA-A1F2236E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828800"/>
            <a:ext cx="3248025" cy="3914775"/>
          </a:xfrm>
          <a:prstGeom xmlns:a="http://schemas.openxmlformats.org/drawingml/2006/main" prst="roundRect">
            <a:avLst>
              <a:gd name="adj" fmla="val 351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16B84-6E40-4D12-A8C4-045C905B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0383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How to 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9FC339-A2D2-4CA1-B84A-6620D9BF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28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DE4F3-DA43-4934-AD46-579045BA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527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SLSQP: shortest mean runtime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01CE8-D4E5-46C8-A2AB-2C048D67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38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735C9-5DD4-46E4-9596-3E1599CC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623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L-BFGS-B / trust-constr: lowest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6167C-8BE0-4913-8EC5-0601C057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EB7A9-CEEC-40BB-BA4E-BAB3047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7719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Nelder–Mead: more robust under high noise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57F77-57E6-4D16-8EE1-4616A659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38DB6-E7AD-4DE1-B346-41E1204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81500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Convergence need not recover the reference currents; multiple basins can attain equivalent objectives.</a:t>
            </a:r>
          </a:p>
        </p:txBody>
      </p:sp>
    </p:spTree>
    <p:extLst>
      <p:ext uri="{BB962C8B-B14F-4D97-AF65-F5344CB8AC3E}">
        <p14:creationId xmlns:p14="http://schemas.microsoft.com/office/powerpoint/2010/main" val="5712679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1E1F9-EF45-480C-850B-6A4D011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1 ·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FB897-0068-4839-8AC5-701EB3C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250,000-Point Landscape Reveals Multiple Basins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F8B15-7D77-4130-A06A-98702D9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The target αx=0, αy=0 has multiple acceptable regions in current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31426-0AE5-498D-BA1E-0297AB3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B3ADD-64F0-4D60-B986-45D67F5D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35300-A274-47B0-B43D-A5581114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33550"/>
            <a:ext cx="60579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a50654de34c43"/>
          <a:stretch xmlns:a="http://schemas.openxmlformats.org/drawingml/2006/main"/>
        </p:blipFill>
        <p:spPr>
          <a:xfrm xmlns:a="http://schemas.openxmlformats.org/drawingml/2006/main">
            <a:off x="1329339" y="1809750"/>
            <a:ext cx="4046921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E8691-FCEA-4789-AD03-01C50CA4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0097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500 × 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05B3E-C5EE-41E0-BF9D-50F00607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527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Regular-Grid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88014-93E1-4436-AB8F-5D625E7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622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40,280 s · 11.19 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5DC5A-1E64-4CE7-97E1-0A88B7C0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B8794"/>
                </a:solidFill>
                <a:latin typeface="Microsoft YaHei"/>
                <a:ea typeface="Microsoft YaHei"/>
                <a:cs typeface="Microsoft YaHei"/>
              </a:rPr>
              <a:t>MSE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36135-0238-40D2-A84E-2CF4D4E6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6576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9.79e-6  →  3.41e3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BCF7A-148F-4BF4-BEA0-87341206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50673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F9132-AB3A-45BC-8850-0FA6128D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862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7FD80-30FE-4F94-98F2-1334AFC9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857750"/>
            <a:ext cx="443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Only 66/250,000 points (0.0264%) have MSE &lt; 1e−3. Narrow, multi-basin valleys require joint inspection of error, currents, and trajectories.</a:t>
            </a:r>
          </a:p>
        </p:txBody>
      </p:sp>
    </p:spTree>
    <p:extLst>
      <p:ext uri="{BB962C8B-B14F-4D97-AF65-F5344CB8AC3E}">
        <p14:creationId xmlns:p14="http://schemas.microsoft.com/office/powerpoint/2010/main" val="1793581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7D462-AA7D-4054-BD1C-0AA9407F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1 · TRAJECTORIES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47651-3D3A-4A53-97C3-CFF43CAB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Shared Starts, Different Optimization Trajectories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1D76C-06D4-4EA9-BDBC-1F69A93C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Gradient, simplex, and constrained methods follow different paths and reach different endpoints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842C8-36A8-4FC9-B833-4D0FAAA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73C6F-E13E-4946-9ED4-928210F1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CF00F-E27B-4920-B800-D449E54F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76400"/>
            <a:ext cx="7915275" cy="4591050"/>
          </a:xfrm>
          <a:prstGeom xmlns:a="http://schemas.openxmlformats.org/drawingml/2006/main" prst="roundRect">
            <a:avLst>
              <a:gd name="adj" fmla="val 2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fcd2f87e4559"/>
          <a:stretch xmlns:a="http://schemas.openxmlformats.org/drawingml/2006/main"/>
        </p:blipFill>
        <p:spPr>
          <a:xfrm xmlns:a="http://schemas.openxmlformats.org/drawingml/2006/main">
            <a:off x="607786" y="1752600"/>
            <a:ext cx="7347403" cy="4438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ECAE0-94F9-4C50-940A-2D5CABAA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3238500" cy="44386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A50C2-BBB3-44F2-BAB2-467989D1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907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Trajectory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74DC6-7202-4EE9-AEDB-853ADCC0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6A940-7C6E-4781-ACAF-7B96ED7D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Repeated convergence from different starts to the same basin indicates stable local attraction regions.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7767D-E5C0-47C6-8963-05501607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D9A4F-CFAA-4C73-A7C6-695E7A80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86125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SLSQP makes more cross-basin jumps; its speed advantage comes with greater step-size sensitivity.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FC76A2-537F-4436-9798-07818FB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FE2EA4-7181-452B-94B7-3B96BD06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86225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Nelder–Mead and COBYLA are gradient-free, providing robust baselines for the noise study.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CD51-DE4A-4913-BE98-3C4FAE88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62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7511D-391D-409C-B8A4-33380FA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86325"/>
            <a:ext cx="2514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Final MSE omits both path cost and the physical location of the solution.</a:t>
            </a:r>
          </a:p>
        </p:txBody>
      </p:sp>
    </p:spTree>
    <p:extLst>
      <p:ext uri="{BB962C8B-B14F-4D97-AF65-F5344CB8AC3E}">
        <p14:creationId xmlns:p14="http://schemas.microsoft.com/office/powerpoint/2010/main" val="15060899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7807F-DC83-41DB-9E02-DF8386A7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FELSIM · JUNE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220AD-3C94-4376-8779-9590FBF8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Stage 3: Building a Research-Ready Evaluation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61117-4AF7-48FA-9884-CE6998C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This stage added logMSE, Gaussian current noise, R26→R9 data mapping, and second-order sensitivity interfaces.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618D2-168B-4705-81CB-5A8BCA14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784B6-BFA8-46F7-8656-982B70F4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06.08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7459B-1BC1-4670-B342-F9F5A6BB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float64 + evaluate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jac / options / callback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CFDBE-E891-4B96-889D-8185767B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06.21—26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4F4A17-1046-47AD-AEDF-9DC84725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logMSE and Gaussian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current 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42096-E6CE-4F22-A593-D926539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06.24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0A2D5-AC70-44A5-B557-E55EA4C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1,000-Sample Mapping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and Multicore Parallelism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ECDE6-A895-49C0-8017-731610EF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843540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966DA-012D-4CA7-B327-1C2C2B6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B61FF"/>
                </a:solidFill>
              </a:defRPr>
            </a:pPr>
            <a:r>
              <a:rPr sz="1050" b="1">
                <a:solidFill>
                  <a:srgbClr val="7B61FF"/>
                </a:solidFill>
              </a:rPr>
              <a:t>STEP 2 · LOGMSE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C01A3-797D-4F63-8604-D69FAEE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logMSE Pilot: Retained as an Option, Not the Default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8B2E-A5ED-48B1-BC64-80ADAFB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Small pilot (n=3 per method): better scaling, but excessive runtime and stability costs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1DE70-4077-4EC9-9FFA-6D976560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A8A8-9694-4FBC-9848-E1BC90A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4B98-8085-4E26-807C-591AE4F0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68580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6334125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22a7849e7445a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55462-4207-467C-8115-FE20DFC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85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89C1B-C12F-4BE1-85AD-D232D87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E71E-6549-416C-96D1-81CD385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Mean runtime increased for every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49E3C-5C82-48EA-B7D8-711CAD11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B230-4812-450A-9989-C58CA85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L-BFGS-B: ~9.6×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1DA73-BEAC-43C5-A927-0AD3DF6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57BA7-C48B-4370-B062-D09D56D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trust-constr: ~13.3×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1D5DE-05D3-4137-8B64-6F9DE7F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523AE-3703-4B4C-8602-2DD2DA6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Low-MSE scaling benefits did not offset runtime and truncation/instability issues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3FDFA-5AB4-45A9-A80C-9B93011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24450"/>
            <a:ext cx="42005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C6665-B00A-4C40-A137-1FC7F32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3149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Keep use_log as an option; MSE remains the default.</a:t>
            </a:r>
          </a:p>
        </p:txBody>
      </p:sp>
    </p:spTree>
    <p:extLst>
      <p:ext uri="{BB962C8B-B14F-4D97-AF65-F5344CB8AC3E}">
        <p14:creationId xmlns:p14="http://schemas.microsoft.com/office/powerpoint/2010/main" val="6920435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7C1CF2-62AC-4E34-9FBC-2815110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2 · 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0D531-23E5-44CF-BD00-661C16F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2: R²⁶ → R⁹ Mapping with Multicore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E2147-8EA2-48B8-B2F0-25E6216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Map 26 currents to α, β, and ε in x/y/z for surrogate and sensitivity studies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BD0C6-5CD8-4943-B9A0-AEC6ADC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E25EF-03B8-41C3-988F-87BDBE9E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6E383-B281-4928-B7B3-DEE9A31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8C22D-EAC4-4B43-AC47-38D4800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BFEBC-4AC3-4A36-B40B-2FBC3D0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ABA6-AB83-4A02-9020-595C3F3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24003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0F0A-80B3-4325-83A2-87EE2AA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063E-0D94-46D0-B1A9-C6E833C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R²⁶ currents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5D5FE-5A22-4FA4-B874-769DAE9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26 quadrupole settings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1,000 random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A7C0E-E535-4506-B92D-DEC1F603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95525"/>
            <a:ext cx="1943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E32A1-E42C-4CF4-AB93-5DC7202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95525"/>
            <a:ext cx="1943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C73BF-C349-4091-920D-400C1BF9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669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FELSim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F0CC7-EB51-4137-80A1-D9A5135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479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Tensor propagation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+ cal_twiss()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60FF4-F1F1-47EB-84EE-D6E5F78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943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6A4FA-2D93-4D7C-9C5F-7CE49C6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943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2C92F-68CB-4D19-A2E3-4570F6C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69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R⁹ 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B64F4-191C-4F97-9AC5-2159F4F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[α, β, ε] ×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[x, y, z]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42695-0D99-4C92-A274-A187696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95525"/>
            <a:ext cx="2247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7E056-5FC1-43FB-BCD1-C8F9EC90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95525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4D8EC-869D-4E2C-980C-E44EA7F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Notebook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9B285-7BDD-4C4B-A235-9BB1EE64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4797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1,000 text records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machine-readable dataset pending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4B247-355B-44B4-A5B3-6C5EAA59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8CFA5-7410-4727-B6F5-98C9D74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B6C66-7CCD-4FE0-8832-1CEBCF2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rPr>
              <a:t>102 → 17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187C0-7590-4EB9-974D-8BE836E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6-core parallelism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29E99-9059-460C-9718-A4F3408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≈6× wall-clock speedup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4C585-2ED2-4C20-94AB-935D7DEB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AF777-E8ED-4B07-8A0F-4663072D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9A26C-81B9-48B3-998A-77D13CE3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D06CF-1095-494B-ACE9-DD04219D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notebook mapping records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06D9D4-82AA-488C-88EA-279ED003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Current results do not retain the 1,000×35 dataset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E2755-4F9D-43C3-AA6C-EC0F9FA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ABCB9D-9418-4B74-9518-B626937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8EDC8A-E15A-49F2-B8AF-ED5B9DC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2A93B"/>
                </a:solidFill>
                <a:latin typeface="Microsoft YaHei"/>
                <a:ea typeface="Microsoft YaHei"/>
                <a:cs typeface="Microsoft YaHei"/>
              </a:rPr>
              <a:t>3 × 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618A9-FCA5-474C-8EA0-02711A2B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Twiss output tensor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F73E5-67EE-490D-B4E8-E4C4CAE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Some random settings yield nonphysical solutions</a:t>
            </a:r>
          </a:p>
        </p:txBody>
      </p:sp>
    </p:spTree>
    <p:extLst>
      <p:ext uri="{BB962C8B-B14F-4D97-AF65-F5344CB8AC3E}">
        <p14:creationId xmlns:p14="http://schemas.microsoft.com/office/powerpoint/2010/main" val="13177473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8C845A-4860-4C78-A22B-5EEEEEC2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2 · NOISE ROBUSTNESS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EFC0C-8786-4DFB-AB4D-AFF0CB71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Noise Robustness under a Strict MSE Threshold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05693-8C77-40D6-B109-0DDA22FD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All results use MSE &lt; 1e-3; five σ levels and 100 runs per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FA89C-9FB5-4B81-83B8-A25FE8C7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4AF2-9FD2-40D4-A2AC-4F622853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57FAA-6B24-4A55-8C7D-22EB1662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19275"/>
            <a:ext cx="7429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57225" y="2066925"/>
          <a:ext xmlns:a="http://schemas.openxmlformats.org/drawingml/2006/main" cx="6953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bbde3a5eb432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6F5EF-2E40-4AC5-88CE-CBDC5339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19275"/>
            <a:ext cx="3638550" cy="400050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A7F59-C915-43A1-979A-31C40D6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47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Key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35C17-0FAB-45A9-9D1A-1148C85B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DE047-72E3-434F-A241-40C2CD4D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431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At σ=1e-8, the strict pass rate for gradient-based methods already falls to 8–13%.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D7E0B-3A1C-4A1B-82FF-E1E766FF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FC638-1848-4DE8-A5E9-87CC58AC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480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Nelder–Mead retains a 93% pass rate at σ=1e-4, but only 7% at σ=1.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6EF1A-D573-4D42-8458-CCCE1120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29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15F94-8BA1-4050-AB46-59B996C0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5287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COBYLA: 88% → 81% → 36% → 7% → 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7FFB2-B8F9-4FB8-B027-F2E55F2D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33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69E76-F59D-4532-8AFE-3B45CA8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838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The repo uses is_converged with MSE&lt;1 and no solver-success requirement; this slide uses a stricter definition.</a:t>
            </a:r>
          </a:p>
        </p:txBody>
      </p:sp>
    </p:spTree>
    <p:extLst>
      <p:ext uri="{BB962C8B-B14F-4D97-AF65-F5344CB8AC3E}">
        <p14:creationId xmlns:p14="http://schemas.microsoft.com/office/powerpoint/2010/main" val="7308455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ED63B-BEA6-4A8A-B19D-71553F97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2 · DERIVATIVE SCAN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E8B16-1B94-4D8E-AD87-40263B99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Hessian Dominates Second-Order Scan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5FC77-8E3B-473A-A45A-8B0AB220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Measured cost grows roughly quadratically with variable 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1B7D4-7CB1-4D96-8E19-4A642B8C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4A226-357C-4020-B43B-FE49B9EC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F08B6-3643-4DC2-9AED-56A9307D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19275"/>
            <a:ext cx="535305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1ac18908642e4"/>
          <a:stretch xmlns:a="http://schemas.openxmlformats.org/drawingml/2006/main"/>
        </p:blipFill>
        <p:spPr>
          <a:xfrm xmlns:a="http://schemas.openxmlformats.org/drawingml/2006/main">
            <a:off x="632732" y="1895475"/>
            <a:ext cx="4735286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A962C-03D6-4C70-A620-C0DF223B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95475"/>
            <a:ext cx="5810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A81EB-0100-42AB-9CB0-6A747EFD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4953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Typical Per-Sample Cost in the Current 4-Point PKL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210300" y="2619375"/>
          <a:ext xmlns:a="http://schemas.openxmlformats.org/drawingml/2006/main" cx="53340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1190625"/>
                <a:gridCol w="2762250"/>
              </a:tblGrid>
              <a:tr h="4413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Component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 / role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MSE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7.6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 forward pass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Jacobian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23–24 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first-order sensitivity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Hessian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108–110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About 68–69%; main bottleneck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H_GN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19 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Gauss–Newton approximation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4413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Eigen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0.001 s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Eigendecomposition is nearly free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093F5-847A-4E8A-82D8-07664494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38825"/>
            <a:ext cx="11391900" cy="371475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8F1E6-34D1-4320-BB24-2DBCE4C2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Variables 2→4→6→8→10: ≈104→314→700→1,348→1,821 s; the current scan_parameters.pkl retains only four points.</a:t>
            </a:r>
          </a:p>
        </p:txBody>
      </p:sp>
    </p:spTree>
    <p:extLst>
      <p:ext uri="{BB962C8B-B14F-4D97-AF65-F5344CB8AC3E}">
        <p14:creationId xmlns:p14="http://schemas.microsoft.com/office/powerpoint/2010/main" val="13442794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43E7-01B5-4E04-8BE7-D9BD8E5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FELSIM · JUNE—AUGUST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E5C04-52AF-4A40-BE7F-2740A5AF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4: Multi-CPU Parallelization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E6B5B-B1B9-4B56-B8F8-6F6F530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Scale independent FELSim evaluations across CPU processes for mapping, optimizer restarts, and close/far derivative scans.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98DF2-A407-4F31-B2E0-5DE3855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278643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7C1CF2-62AC-4E34-9FBC-28151109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PHASE 4 · EXECUTION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0D531-23E5-44CF-BD00-661C16FD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One Process Pool Serves Three Experiment Workloads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E2147-8EA2-48B8-B2F0-25E6216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Parallelism is coarse-grained across independent samples and optimizer runs—not within one beam propagation.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BD0C6-5CD8-4943-B9A0-AEC6ADC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E25EF-03B8-41C3-988F-87BDBE9E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6E383-B281-4928-B7B3-DEE9A31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8C22D-EAC4-4B43-AC47-38D48007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BFEBC-4AC3-4A36-B40B-2FBC3D03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952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6ABA6-AB83-4A02-9020-595C3F37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24003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90F0A-80B3-4325-83A2-87EE2AA2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063E-0D94-46D0-B1A9-C6E833C7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Task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5D5FE-5A22-4FA4-B874-769DAE9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47975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Samples or method × restart jobs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created in the parent 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A7C0E-E535-4506-B92D-DEC1F603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95525"/>
            <a:ext cx="1943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E32A1-E42C-4CF4-AB93-5DC7202F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95525"/>
            <a:ext cx="1943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E"/>
          </a:solidFill>
          <a:ln xmlns:a="http://schemas.openxmlformats.org/drawingml/2006/main" w="0">
            <a:solidFill>
              <a:srgbClr val="173B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C73BF-C349-4091-920D-400C1BF9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669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Process pool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F0CC7-EB51-4137-80A1-D9A5135D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479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ProcessPoolExecutor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worker count from CLI / SLURM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60FF4-F1F1-47EB-84EE-D6E5F78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9431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6A4FA-2D93-4D7C-9C5F-7CE49C6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19431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2C92F-68CB-4D19-A2E3-4570F6C1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69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FELSim workers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B64F4-191C-4F97-9AC5-2159F4FB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1600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One task per process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BLAS / PyTorch threads fixed at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42695-0D99-4C92-A274-A187696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95525"/>
            <a:ext cx="22479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7E056-5FC1-43FB-BCD1-C8F9EC90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95525"/>
            <a:ext cx="22479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04D8EC-869D-4E2C-980C-E44EA7F4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Fan-in + 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9B285-7BDD-4C4B-A235-9BB1EE64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4797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Collect → regroup / sort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→ pickle or notebook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4B247-355B-44B4-A5B3-6C5EAA59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8CFA5-7410-4727-B6F5-98C9D740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CB6C66-7CCD-4FE0-8832-1CEBCF2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rPr>
              <a:t>1,000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187C0-7590-4EB9-974D-8BE836EC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Twiss-mapping trials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029E99-9059-460C-9718-A4F34088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26 currents → clean + noisy Twiss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4C585-2ED2-4C20-94AB-935D7DEB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DAF777-E8ED-4B07-8A0F-4663072D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89A26C-81B9-48B3-998A-77D13CE3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method × restart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D06CF-1095-494B-ACE9-DD04219D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Optimizer benchmark tasks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06D9D4-82AA-488C-88EA-279ED003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Each worker runs one independent optimization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E2755-4F9D-43C3-AA6C-EC0F9FA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ABCB9D-9418-4B74-9518-B6269379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529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8EDC8A-E15A-49F2-B8AF-ED5B9DC3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34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close + far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8618A9-FCA5-474C-8EA0-02711A2B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0768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Derivative-scan batches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F73E5-67EE-490D-B4E8-E4C4CAE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3816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MSE · J · H · H_GN · eigensystem</a:t>
            </a:r>
          </a:p>
        </p:txBody>
      </p:sp>
    </p:spTree>
    <p:extLst>
      <p:ext uri="{BB962C8B-B14F-4D97-AF65-F5344CB8AC3E}">
        <p14:creationId xmlns:p14="http://schemas.microsoft.com/office/powerpoint/2010/main" val="13177473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966DA-012D-4CA7-B327-1C2C2B6B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B61FF"/>
                </a:solidFill>
              </a:defRPr>
            </a:pPr>
            <a:r>
              <a:rPr sz="1050" b="1">
                <a:solidFill>
                  <a:srgbClr val="7B61FF"/>
                </a:solidFill>
              </a:rPr>
              <a:t>PHASE 4 · 24-CORE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C01A3-797D-4F63-8604-D69FAEE5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24-Core Timing: Measured Anchor, Projected Savings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8B2E-A5ED-48B1-BC64-80ADAFB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Measured 6-core scaling anchors two transparent 24-core compute-only projections.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1DE70-4077-4EC9-9FFA-6D976560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9A8A8-9694-4FBC-9848-E1BC90A2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4B98-8085-4E26-807C-591AE4F0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70485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55462-4207-467C-8115-FE20DFC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85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24-core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89C1B-C12F-4BE1-85AD-D232D875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3E71E-6549-416C-96D1-81CD3850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431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Twiss map: 102 → 17 min is measured on 6 cores; 4.25 min on 24 cores is projected.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549E3C-5C82-48EA-B7D8-711CAD11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5B230-4812-450A-9989-C58CA858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Projected saving: 97.75 min per 1,000-sample mapping job.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1DA73-BEAC-43C5-A927-0AD3DF6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57BA7-C48B-4370-B062-D09D56DE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5,000 optimizer restarts: ≈22 h 53 min projected saving (23 h 53 min → 59.7 min).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1D5DE-05D3-4137-8B64-6F9DE7F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523AE-3703-4B4C-8602-2DD2DA6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434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Assumes near-linear scaling; excludes startup, serialization, memory contention, and queue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83FDFA-5AB4-45A9-A80C-9B930112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124450"/>
            <a:ext cx="42005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C6665-B00A-4C40-A137-1FC7F322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31495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rPr>
              <a:t>No completed 24-core Koa timing is stored; a 24-core request was estimated to queue for ≈3 days.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633412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22d19d56d24115"/>
          </a:graphicData>
        </a:graphic>
      </p:graphicFrame>
    </p:spTree>
    <p:extLst>
      <p:ext uri="{BB962C8B-B14F-4D97-AF65-F5344CB8AC3E}">
        <p14:creationId xmlns:p14="http://schemas.microsoft.com/office/powerpoint/2010/main" val="69204358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BA6FA-5993-4DDB-8A1F-CDBAB06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PHASE 4 · PARALLEL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CA612-45A2-4213-A990-5E10A65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Parallelize Outer Tasks; Keep Each Evaluation Serial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6B49B-65F0-4F77-A757-4053DD8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This boundary explains both the strong batch-level scaling and the remaining Hessian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0980E-3E7F-471A-A3F0-FE63328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AE7D8-6489-4F4A-AB08-4C31E86E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8A94-3004-463A-B61A-816B95E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B311-F19C-4A02-BC7F-5B0922B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84B22-9047-4EAC-9556-4981F5E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AA876"/>
                </a:solidFill>
                <a:latin typeface="Microsoft YaHei"/>
                <a:ea typeface="Microsoft YaHei"/>
                <a:cs typeface="Microsoft YaHei"/>
              </a:rPr>
              <a:t>1,000 trials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311D5-9886-46E8-9146-E32E478C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Current → Twiss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2FF8E-EA31-44D0-8CCF-D3CA494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Measured: 102 → 17 min on 6 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CF9DE-86E8-4E3A-8ACC-B10656E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5D84-C0B3-42FC-A8D0-4A85E91F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8B8B1-968C-4381-A871-85ECDA23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method × restart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ED3F3-71EE-4B7E-9825-289B4C19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Optimizer benchmarking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7F82D-E15B-49C6-9B02-4BDCD41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One independent optimization per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9A97F-391D-48CF-BBB4-B85223F5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7E871-40D8-4189-82AA-323E42D5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34483-7280-46F2-8E97-B6BBAE6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close + far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B8655-CAA4-493B-A332-6E33FF3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Local geometry scans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23AE6-676D-40F3-8EDA-8A4A07B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One sample payload per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32890-FBD3-48FF-BB5F-11FC846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956E8-7CB9-4A3B-B24D-FA418A0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90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rPr>
              <a:t>Boundary: J, H, and H_GN finite differences are still serial inside each worker; close and far batches and the three objective cases are launched sequentially.</a:t>
            </a:r>
          </a:p>
        </p:txBody>
      </p:sp>
      <p:graphicFrame>
        <p:nvGraphicFramePr>
          <p:cNvPr id="48" name=""/>
          <p:cNvGraphicFramePr/>
          <p:nvPr/>
        </p:nvGraphicFramePr>
        <p:xfrm>
          <a:off xmlns:a="http://schemas.openxmlformats.org/drawingml/2006/main" x="400050" y="3733800"/>
          <a:ext xmlns:a="http://schemas.openxmlformats.org/drawingml/2006/main" cx="1139190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333625"/>
                <a:gridCol w="3667125"/>
                <a:gridCol w="33909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Workload</a:t>
                      </a:r>
                    </a:p>
                  </a:txBody>
                  <a:tcPr marL="91440" marR="91440" marT="45720" marB="45720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Parallel unit</a:t>
                      </a:r>
                    </a:p>
                  </a:txBody>
                  <a:tcPr marL="91440" marR="91440" marT="45720" marB="45720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Worker payload</a:t>
                      </a:r>
                    </a:p>
                  </a:txBody>
                  <a:tcPr marL="91440" marR="91440" marT="45720" marB="45720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Observed / configured evidence</a:t>
                      </a:r>
                    </a:p>
                  </a:txBody>
                  <a:tcPr marL="91440" marR="91440" marT="45720" marB="45720">
                    <a:solidFill>
                      <a:srgbClr val="173B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0B1220"/>
                          </a:solidFill>
                        </a:rPr>
                        <a:t>Twiss map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1 current vector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Clean + noisy propagation; Twiss output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1,000 tasks; 6-core measured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0B1220"/>
                          </a:solidFill>
                        </a:rPr>
                        <a:t>Optimizer batch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1 method × restart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Independent beamline optimization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ProcessPool; CLI-configured cores</a:t>
                      </a:r>
                    </a:p>
                  </a:txBody>
                  <a:tcPr marL="91440" marR="91440" marT="45720" marB="45720"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75">
                          <a:solidFill>
                            <a:srgbClr val="0B1220"/>
                          </a:solidFill>
                        </a:rPr>
                        <a:t>Global / close-far 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1 sample 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MSE · J · H · H_GN · eigenpairs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75">
                          <a:solidFill>
                            <a:srgbClr val="0B1220"/>
                          </a:solidFill>
                        </a:rPr>
                        <a:t>11-core 1,000-point run; no matched serial A/B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798407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343E7-01B5-4E04-8BE7-D9BD8E5C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FELSIM · JULY—AUGUST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E5C04-52AF-4A40-BE7F-2740A5AF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0175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Phase 5: Geometry Near Optima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E6B5B-B1B9-4B56-B8F8-6F6F5301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Stable core interfaces enabled 3×3 close/far scans and Hessian eigenspectrum analysis.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B819C-1D5B-4909-92C9-6931055F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DF012-6B4D-4D34-8FCF-3286BC17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07.15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568D2-49D9-4FDF-9F81-807047D9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Arbitrary Variables / Objectives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Problem Generalization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08601-173B-4567-9D33-C102894D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07.23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D5A2A-114D-408D-A377-1F004977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close / far scan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Jacobian + Hessian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8246B-CD42-4D01-B753-FB00CB7E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08.10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18FAC-07FA-4E24-A1EC-1CB491C8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H_GN / L1 distance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rank / eigenvectors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98DF2-A407-4F31-B2E0-5DE38554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2786438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701EA-8D98-431B-84AC-6670FD3C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3 ·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CAAD0-62C4-4EA1-9E44-F6369CCA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3: Generalization to 3 Variables × 3 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243D5-B497-4DF8-8B51-56CC82A0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The optimization layer is now generic; second-order diagnostics still need full support for multiple objectives at a single location.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F0E318-7326-4E9B-8530-51EEC943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E68C-95FA-47C0-8985-641BEC21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04E8F-3107-405F-BFA1-1BC4B9E6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3571875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4FE4-2CE8-4B6E-9FB9-24966AC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3357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804B9-B3EA-415D-B7BE-D12A427C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2A85D-4935-43F9-B5BE-96636D2E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86025"/>
            <a:ext cx="32289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I1 / I3 / I10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Objective Set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Archived Coordinates*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(0.01, 1.455, 0.981)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18B04-1A6F-4396-B1FC-6FF6D546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33575"/>
            <a:ext cx="3571875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52BBFB-CE0D-4D49-9C8B-812716DD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3357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EA0B0-E337-4916-8BB4-005A2DD6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0502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6A63E-C772-4AC1-B4CA-E2D9D922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86025"/>
            <a:ext cx="32289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I1 / I3 / I10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Objective Set 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Archived Coordinates*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(0.935, 1.084, 0.816)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8AB41-1179-4ABA-9852-90D7F598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3571875" cy="2419350"/>
          </a:xfrm>
          <a:prstGeom xmlns:a="http://schemas.openxmlformats.org/drawingml/2006/main" prst="roundRect">
            <a:avLst>
              <a:gd name="adj" fmla="val 4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BCA71-B27E-4679-97E8-5235DDB1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3357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76"/>
          </a:solidFill>
          <a:ln xmlns:a="http://schemas.openxmlformats.org/drawingml/2006/main" w="0">
            <a:solidFill>
              <a:srgbClr val="2AA8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D8B006-B8A7-4901-893F-92B2976D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0502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D06A6-0FE1-409B-B4D6-F2FC6E4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86025"/>
            <a:ext cx="32289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I1 / I3 / I10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Objective Set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Archived Coordinates*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(1.156, 1.479, 0.786)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DED0D-C8C2-4C2B-A485-C9DCC6B2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0060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7ED12B-E750-445A-8C1F-03CBE97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0060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C1A7C-D036-4A71-92D0-C9E0D45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00600"/>
            <a:ext cx="10001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A23E7-0E10-4C27-B9F2-E61FD00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981200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59116-F66F-47C3-88AF-EFD4DB0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1981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4"/>
          </a:solidFill>
          <a:ln xmlns:a="http://schemas.openxmlformats.org/drawingml/2006/main" w="0">
            <a:solidFill>
              <a:srgbClr val="7B879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143E4-4374-4F39-A6D2-4321C55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Local minimum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7E979-7B41-45E6-897A-BCC0DA6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163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Optimize each case first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EF492-0982-429B-B318-0C1672A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72000"/>
            <a:ext cx="187642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15EC2-1EA9-4F29-B2A5-545415CF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72000"/>
            <a:ext cx="1876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B587B-683A-408D-BA2E-96CF1360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43450"/>
            <a:ext cx="1533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Close scan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2B6743-2A70-4FD4-8F4C-7CE47B3D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1244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 nearby random samples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42A05-C172-4B95-A4F3-AA72C653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72000"/>
            <a:ext cx="187642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33DD7F-9ECA-4EEF-8D74-90586417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72000"/>
            <a:ext cx="18764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B99E11-D953-48BA-804B-D7359989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43450"/>
            <a:ext cx="15335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Far scan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92A28-1A14-4E50-94E5-27286FCA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124450"/>
            <a:ext cx="1533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10 distant random samples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7AB1F-9ECF-4D56-8A33-1502DA02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72000"/>
            <a:ext cx="2657475" cy="8858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8FE31E-865D-4481-BEB5-60E8410C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72000"/>
            <a:ext cx="26574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BB3F2-F775-47BA-93B2-B2759818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3450"/>
            <a:ext cx="2314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Derivatives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4F919-FFE8-4F3C-844E-9D317612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124450"/>
            <a:ext cx="2314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J / H / eigenpairs / H_GN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8038A-83A0-46E8-A6E9-6F50608B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5B434C-4754-48F2-822B-BA2FDA66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* Coordinates follow stored column order; set construction may swap axes across sessions. “SOBOL” is historical—the implementation uses uniform/Gaussian random sampling.</a:t>
            </a:r>
          </a:p>
        </p:txBody>
      </p:sp>
    </p:spTree>
    <p:extLst>
      <p:ext uri="{BB962C8B-B14F-4D97-AF65-F5344CB8AC3E}">
        <p14:creationId xmlns:p14="http://schemas.microsoft.com/office/powerpoint/2010/main" val="1176619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BA6FA-5993-4DDB-8A1F-CDBAB06A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STEP 3 · CLOSE / FAR SCAN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CA612-45A2-4213-A990-5E10A65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Step 3 Archive: Far Loss Up; Curvature Under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6B49B-65F0-4F77-A757-4053DD89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Far/close median-loss ratios across three multiprocessing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0980E-3E7F-471A-A3F0-FE633285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AE7D8-6489-4F4A-AB08-4C31E86E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8A94-3004-463A-B61A-816B95EF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EB311-F19C-4A02-BC7F-5B0922BD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84B22-9047-4EAC-9556-4981F5E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133×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311D5-9886-46E8-9146-E32E478C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1 · far / close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2FF8E-EA31-44D0-8CCF-D3CA4940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5.94e-7 → 7.92e-5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CF9DE-86E8-4E3A-8ACC-B10656E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5D84-C0B3-42FC-A8D0-4A85E91F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8B8B1-968C-4381-A871-85ECDA23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3.87e3×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ED3F3-71EE-4B7E-9825-289B4C19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2 · far / close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7F82D-E15B-49C6-9B02-4BDCD41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0.1255 → 485.21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9A97F-391D-48CF-BBB4-B85223F5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3562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7E871-40D8-4189-82AA-323E42D5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666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solidFill>
              <a:srgbClr val="7D6C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34483-7280-46F2-8E97-B6BBAE6E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05025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5.45e4×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B8655-CAA4-493B-A332-6E33FF3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3133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Case 3 · far / close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23AE6-676D-40F3-8EDA-8A4A07B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3133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1.09e-4 → 5.95</a:t>
            </a:r>
          </a:p>
        </p:txBody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400050" y="3857625"/>
          <a:ext xmlns:a="http://schemas.openxmlformats.org/drawingml/2006/main" cx="11391900" cy="163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666875"/>
                <a:gridCol w="1666875"/>
                <a:gridCol w="1666875"/>
                <a:gridCol w="4819650"/>
              </a:tblGrid>
              <a:tr h="546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Region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Negative eigenvalues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Near-zero / flat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Positive eigenvalues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Interpretation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Close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/ 90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/ 90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90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 strictly positive definite; saddle and flat directions remain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Far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/ 90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 / 90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90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More flat directions; 26/30 samples contain negative curvature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A32890-FBD3-48FF-BB5F-11FC846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409575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956E8-7CB9-4A3B-B24D-FA418A0B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29300"/>
            <a:ext cx="1090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A5200"/>
                </a:solidFill>
                <a:latin typeface="Microsoft YaHei"/>
                <a:ea typeface="Microsoft YaHei"/>
                <a:cs typeface="Microsoft YaHei"/>
              </a:rPr>
              <a:t>Limitation: Case 2 J/H uses one residual per location, not the full five-objective Hessian; second-order statistics remain prototypes.</a:t>
            </a:r>
          </a:p>
        </p:txBody>
      </p:sp>
    </p:spTree>
    <p:extLst>
      <p:ext uri="{BB962C8B-B14F-4D97-AF65-F5344CB8AC3E}">
        <p14:creationId xmlns:p14="http://schemas.microsoft.com/office/powerpoint/2010/main" val="9679840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379C1-660E-482E-BAD1-F0796A03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17C94-5091-4453-977F-1E024587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924A1-4878-4AD1-86DC-AB14A485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Overlay workflow complete; directions and MSE–eigenvalue relations require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5C5ED-B378-48C0-8699-CF548233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7CD3B-2964-4CFF-BB68-1B06F849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D0C43-4A3A-4A2F-A6F8-B9C7AC52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0"/>
            <a:ext cx="64389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200f640674823"/>
          <a:stretch xmlns:a="http://schemas.openxmlformats.org/drawingml/2006/main"/>
        </p:blipFill>
        <p:spPr>
          <a:xfrm xmlns:a="http://schemas.openxmlformats.org/drawingml/2006/main">
            <a:off x="1492247" y="1790700"/>
            <a:ext cx="4102106" cy="4248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14190-DF4D-42B3-85D3-A09FE654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4724400" cy="4248150"/>
          </a:xfrm>
          <a:prstGeom xmlns:a="http://schemas.openxmlformats.org/drawingml/2006/main" prst="roundRect">
            <a:avLst>
              <a:gd name="adj" fmla="val 26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1D69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02F8D-4A67-4CAA-80A0-2D79063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28825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8A5A00"/>
                </a:solidFill>
                <a:latin typeface="Microsoft YaHei"/>
                <a:ea typeface="Microsoft YaHei"/>
                <a:cs typeface="Microsoft YaHei"/>
              </a:rPr>
              <a:t>Exploratory Prototype · Review Required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0C4EA-18BE-44E0-98D5-11B2DA59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A29EF-E55D-45D4-982C-B0A01AF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14600"/>
            <a:ext cx="379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Complete workflow for overlaying local second-order information on the global landscape.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AF97-505D-420D-A9DC-0CFE4FBA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38122-2686-4206-9503-D8FD2EFF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379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Cell 7 iterates over rows, but NumPy stores eigenvectors by column; arrow directions require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63778B-66E9-4515-A612-E54A2E88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8BE17-C121-4824-AF6C-FC016E5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14800"/>
            <a:ext cx="379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Cell 3 uses a residual-vector element, not scalar φ/MSE; no quantitative correlation is justified.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AAB7D-4A6A-4A0E-9E49-C1192F2A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9B2B1-13D2-4FDD-8A6E-D2CBA824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14900"/>
            <a:ext cx="3790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Robust result: multiple basins and narrow valleys. After correction, recompute principal-curvature directions, H_GN, and rank.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25874-AD8C-4628-A3CD-8D576052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3B82F6"/>
                </a:solidFill>
                <a:latin typeface="Calibri"/>
                <a:ea typeface="Calibri"/>
                <a:cs typeface="Calibri"/>
              </a:rPr>
              <a:t>STEP 4 · CURVATURE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914525-B618-4296-8EE4-93A9859A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B1220"/>
                </a:solidFill>
                <a:latin typeface="Calibri"/>
                <a:ea typeface="Calibri"/>
                <a:cs typeface="Calibri"/>
              </a:rPr>
              <a:t>Step 4: Visualizing Second-Order Directions</a:t>
            </a:r>
          </a:p>
        </p:txBody>
      </p:sp>
    </p:spTree>
    <p:extLst>
      <p:ext uri="{BB962C8B-B14F-4D97-AF65-F5344CB8AC3E}">
        <p14:creationId xmlns:p14="http://schemas.microsoft.com/office/powerpoint/2010/main" val="177696350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3FAC0E-C76F-43D8-BEB1-DD5FF794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TIMELINE · EXPERIMENT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20AED-98EE-44AF-97DD-FCF51769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June–August: Experiment-Layer Commit Timeline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D02A7-F505-49B6-B05A-494A0604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With stable core interfaces, commits shifted to reusable experiments, results, and second-order diagnostics.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064D5-1C9F-4667-8D0C-D58372BD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AF93E-3169-44C8-826C-EA5C73F8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552DB-53C2-482E-863C-C6C675ED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476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B16BA-252F-4145-B888-95C70C9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847850"/>
            <a:ext cx="5476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FF6D5-364C-4A03-923F-18E0FDD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D6CF2"/>
                </a:solidFill>
                <a:latin typeface="Microsoft YaHei"/>
                <a:ea typeface="Microsoft YaHei"/>
                <a:cs typeface="Microsoft YaHei"/>
              </a:rPr>
              <a:t>JUNE · CAPABILITY EXPANSION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9A808-38EE-4C7A-9D6A-971A0B4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5D3B5-D767-4B4F-904E-C4051A0C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06.05 · Step 1 v3: 5×100 runs, 2 h 03 m 34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6F98F-11C2-4BF8-ABB7-87A3FB96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ED84F-5324-4F7A-AFB0-D8842CA9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57525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06.08 · 7d2bb28: float64, evaluate, jac/options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01033-4F7F-4569-9140-1CD1624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E973D-ED89-4171-A060-091EFD96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06.17 · c560bdc: archived historical v4, 5×1,000 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BC129-9008-4DA1-9BDA-4DEEA99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A0420-6FEB-4A3D-8670-582F227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06.20 · 7c53968: reorganized step_1 / step_2 and added logMSE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E396B-20B5-41C7-8B7C-CC133058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CA618-1AE7-454D-AA9E-DBFF41E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06.23 · 1f41e94 / c88962f: R²⁶→R⁹ and multiprocessing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25DE6-B9A6-484B-9AF2-22FA96F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6C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B9E1-1BB2-4539-937A-0FB3B65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46958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06.26 · d3d7cbd: generalized Gaussian current noise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FFF43-8200-49EA-B6E8-089D08F1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0669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6452"/>
                </a:solidFill>
                <a:latin typeface="Microsoft YaHei"/>
                <a:ea typeface="Microsoft YaHei"/>
                <a:cs typeface="Microsoft YaHei"/>
              </a:rPr>
              <a:t>JULY—AUGUST · GENERALIZATION &amp; 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B79BA-FFDC-4E7D-BD3B-B6273813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47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7CC1F-76E6-4805-AD06-19DEFD09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571750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07.04 · 8b25364: unified configuration, second-order scans, and the main current PKL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0BBD3-3374-4A18-B05F-26BC7FA3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76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C972C-819A-4230-A228-B2E8C158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00375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07.10 · f86d162: generalized current variables and objective 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826EFB-0F09-4F50-86F0-A6EF7FC7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05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8D5B89-FBAE-47FC-8B4C-CA97B14A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29000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07.15 · df43c47: close/far scans; serial and multiprocessing scripts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80B1A-448E-43E9-8442-7546110D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C96534-1D8C-447F-86FC-C646B69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57625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07.17 · 5e35deb: updated Step 3 benchmark results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0BC057-A58B-4F62-96AD-6F9D09A8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62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98F92-E3AB-4609-BFF4-765BB42C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286250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07.23 · ec82112: created the Step 4 visualization 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5FB9CA-C420-40D5-B210-06547745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D960E1-9C9D-4D14-BCD3-7960C2F2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14875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07.26—27 · updated visualization and standalone CLI scanning scripts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2FA9FE-BDE0-454C-A085-6ED18621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219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A02B82-B702-4450-B817-17F439B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43500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08.10 · 032121e: final update to the serial/multiprocessing CLI</a:t>
            </a:r>
          </a:p>
        </p:txBody>
      </p:sp>
    </p:spTree>
    <p:extLst>
      <p:ext uri="{BB962C8B-B14F-4D97-AF65-F5344CB8AC3E}">
        <p14:creationId xmlns:p14="http://schemas.microsoft.com/office/powerpoint/2010/main" val="6770923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7F56C-89B8-4707-9686-F8B0289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DELIVERABLES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4F6F-521E-4BE0-B293-B0F9F87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Deliverables: A Traceable Loop from Code to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8F42F-CE87-48C0-B474-D8E7360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Every layer is traceable to a specific file or commit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A947-7C49-4200-A0B3-D5904CF8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7FA80-BA20-48A8-9F75-9630B800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1800225"/>
          <a:ext xmlns:a="http://schemas.openxmlformats.org/drawingml/2006/main" cx="11391900" cy="4276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5962650"/>
                <a:gridCol w="3667125"/>
              </a:tblGrid>
              <a:tr h="6109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Layer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Major deliverables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Verification evidence</a:t>
                      </a:r>
                    </a:p>
                  </a:txBody>
                  <a:tcPr marL="95250" marR="95250" marT="76200" marB="66675" anchor="ctr">
                    <a:solidFill>
                      <a:srgbClr val="173B5E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Backend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Tensor core; Adapters; BeamEvolution; optimizer evaluate/log/noise; COSY helper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Notebook equivalence checks; optimization outputs; runtime comparison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Step 1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 A; five methods; 500×500 landscape; shared-start trajectories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scenario_A_results / trajectories / landscape.pkl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Step 2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logMSE; five noise levels; R26→R9; second-order scan cost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Five noise PKLs; Twiss notebook records; scan_parameters.pkl (4 current points)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Step 3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Three variables / three targets; close/far random scans; J/H/eigen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benchmark_scan and benchmark_scan_multi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 Step 4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Hessian–MSE prototype; eigenvalue classes; eigenvector overlay; H_GN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plot_summary notebook / PDF; exploratory curvature figure</a:t>
                      </a:r>
                    </a:p>
                  </a:txBody>
                  <a:tcPr marL="95250" marR="76200" marT="66675" marB="57150" anchor="ctr">
                    <a:solidFill>
                      <a:srgbClr val="FFFFFF"/>
                    </a:solidFill>
                  </a:tcPr>
                </a:tc>
              </a:tr>
              <a:tr h="610961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 progress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Stages 1–9: issues, decisions, runtime, compute resources, and next steps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B12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Complete April–August timeline</a:t>
                      </a:r>
                    </a:p>
                  </a:txBody>
                  <a:tcPr marL="95250" marR="76200" marT="66675" marB="5715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98033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78766-050E-4BE4-925D-F772689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B82F6"/>
                </a:solidFill>
              </a:defRPr>
            </a:pPr>
            <a:r>
              <a:rPr sz="1050" b="1">
                <a:solidFill>
                  <a:srgbClr val="3B82F6"/>
                </a:solidFill>
              </a:rPr>
              <a:t>STATUS ·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DDAEF-3944-4078-B356-A490B265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0715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Known Gaps and the Next-Phase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7140A-483A-4A40-8D31-BB92AB54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04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Advancing the research prototype into a more stable, reusable, and maintainable engineering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119BD-8BBD-4B97-8BA6-E8A0D8F3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5028B-0905-46A5-8405-8A0AF13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834D8-F882-4C0E-B122-3D732E7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3571875" cy="3495675"/>
          </a:xfrm>
          <a:prstGeom xmlns:a="http://schemas.openxmlformats.org/drawingml/2006/main" prst="roundRect">
            <a:avLst>
              <a:gd name="adj" fmla="val 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408B5-766F-4786-8D33-52D6617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452"/>
          </a:solidFill>
          <a:ln xmlns:a="http://schemas.openxmlformats.org/drawingml/2006/main" w="0">
            <a:solidFill>
              <a:srgbClr val="E864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9E84A-12E7-4A1B-A319-CB12F753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P0 · Interface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F91C5-DE40-4CAA-A844-B9FDBF96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3228975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.copy() in FELsimAdapter.simulate() conflicts with Tensor returns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felAPI does not support the tuple from gen_6d_from_twiss()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schematic obtains torch indirectly through a wildcard import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Goal: standardize Tensor / NumPy / API input-output contracts.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09C81-4FB4-457A-865C-01F8FDEC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3571875" cy="3495675"/>
          </a:xfrm>
          <a:prstGeom xmlns:a="http://schemas.openxmlformats.org/drawingml/2006/main" prst="roundRect">
            <a:avLst>
              <a:gd name="adj" fmla="val 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7E2A2-0764-4A6D-B726-E2E2E239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14525"/>
            <a:ext cx="3571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E6C3D-D265-4A22-A089-1A695E0A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85975"/>
            <a:ext cx="3228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P1 · Dependencies &amp;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1EDD0-3AC7-4458-BD89-0EC3370B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66975"/>
            <a:ext cx="3228975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torch is not declared explicitly in requirements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beamUtility.getPowerDF() is defined twice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model_Bethe is missing from the production module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optimizer hard-codes the default sigma length to 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Goal: consolidate dependencies, remove duplication, and make parameters configurable.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1309D-1C21-46BE-8621-031AC1D3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3562350" cy="3495675"/>
          </a:xfrm>
          <a:prstGeom xmlns:a="http://schemas.openxmlformats.org/drawingml/2006/main" prst="roundRect">
            <a:avLst>
              <a:gd name="adj" fmla="val 32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BAEA7-0E4D-4D8D-ACC3-96B3A622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14525"/>
            <a:ext cx="3562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CE47E-6419-455F-9867-2CDE37BD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8597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P2 · Validation and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71C3E-4A4A-4ED0-A84F-C70B3564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66975"/>
            <a:ext cx="3219450" cy="2828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Move notebook checks to pytest regressions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Accelerate Hessians with caching, parallelism, and H_GN/low-rank approximations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Correct multi-objective residual/J/H and eigenvector column orientation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• Align “SOBOL” naming, actual sampling, and strict convergence criteria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6D"/>
                </a:solidFill>
                <a:latin typeface="Microsoft YaHei"/>
                <a:ea typeface="Microsoft YaHei"/>
                <a:cs typeface="Microsoft YaHei"/>
              </a:rPr>
              <a:t>Goal: turn research evidence into a reproducible workflow.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D68A7-AE2F-444F-B01C-E250D97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11391900" cy="447675"/>
          </a:xfrm>
          <a:prstGeom xmlns:a="http://schemas.openxmlformats.org/drawingml/2006/main" prst="roundRect">
            <a:avLst>
              <a:gd name="adj" fmla="val 2553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85584-C5B5-4471-AB8F-F82027DD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10934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Priority: first align interfaces, then automate regression tests, and finally expand GPU, surrogate, and second-order approximation research.</a:t>
            </a:r>
          </a:p>
        </p:txBody>
      </p:sp>
    </p:spTree>
    <p:extLst>
      <p:ext uri="{BB962C8B-B14F-4D97-AF65-F5344CB8AC3E}">
        <p14:creationId xmlns:p14="http://schemas.microsoft.com/office/powerpoint/2010/main" val="4574119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DF7D6-6CBC-4174-B8A0-B7AECD9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FELSIM ·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4C419-17C0-4934-9466-1E7BEC5A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Two Workstreams,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One End-to-End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7C91A-9A13-4AF9-B8C1-184CB98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0151F-F349-43EE-A5AF-38A8A5F9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· Code and Functionality Delivered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1A9EA-1BB3-49C2-8238-09ED654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Tensorized propagation, statistics, and physics utilities; standardized float64; added evaluate, jac/options, logMSE, and noise support; completed the Step 1–4 research pipeline and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563E6-198F-4A1F-B79E-05ED1827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147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02 · Integration into the New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F4CE0-2FFF-40DC-BA80-FBEC6084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00500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Preserved existing interfaces through SimulatorBase and adapters; unified data flow with beamPropagator and BeamEvolution; exposed a shared evaluate() capability to the experiment, results, and visualization layers.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7E743-8C85-4A22-B931-96756F34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76454-BB8A-42B7-8A08-E3E71057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5E"/>
                </a:solidFill>
                <a:latin typeface="Microsoft YaHei"/>
                <a:ea typeface="Microsoft YaHei"/>
                <a:cs typeface="Microsoft YaHei"/>
              </a:rPr>
              <a:t>Current state: optimizer, noise, and curvature studies are supported; next: harden interfaces, automate tests, and reduce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561E2-888A-45C7-BD36-A56C559C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7C8798"/>
                </a:solidFill>
              </a:defRPr>
            </a:pPr>
            <a:r>
              <a:rPr sz="900" b="1">
                <a:solidFill>
                  <a:srgbClr val="7C8798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56042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2026-08-13T00:35:28.9730000Z</dcterms:created>
  <dcterms:modified xsi:type="dcterms:W3CDTF">2026-08-13T00:35:28.9740000Z</dcterms:modified>
</coreProperties>
</file>